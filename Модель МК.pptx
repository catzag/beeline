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9" r:id="rId3"/>
    <p:sldId id="258" r:id="rId4"/>
    <p:sldId id="260" r:id="rId5"/>
    <p:sldId id="261" r:id="rId6"/>
    <p:sldId id="265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9933"/>
    <a:srgbClr val="FFCC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4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D5029-7AD1-44ED-B1FA-880B452FD688}" type="datetimeFigureOut">
              <a:rPr lang="ru-RU" smtClean="0"/>
              <a:t>25.06.2025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215EEC-B6A8-4B23-A852-F4EF0D6BD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970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7215B-1C0B-4D99-BDEE-B8B57C45245B}" type="datetime1">
              <a:rPr lang="ru-RU" smtClean="0"/>
              <a:t>25.06.2025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730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649D-6C4C-4CC0-87D2-5D3832D7F043}" type="datetime1">
              <a:rPr lang="ru-RU" smtClean="0"/>
              <a:t>25.06.2025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74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79CA0-572A-40AF-9865-E566FE24A8AE}" type="datetime1">
              <a:rPr lang="ru-RU" smtClean="0"/>
              <a:t>25.06.2025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657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0B4A-E31D-42F9-967A-2F2738B780AC}" type="datetime1">
              <a:rPr lang="ru-RU" smtClean="0"/>
              <a:t>25.06.2025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7003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6F8F4-C447-4B8D-9930-C1C3967E5CE1}" type="datetime1">
              <a:rPr lang="ru-RU" smtClean="0"/>
              <a:t>25.06.2025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834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D659-7723-4F8D-8363-56843E6D6622}" type="datetime1">
              <a:rPr lang="ru-RU" smtClean="0"/>
              <a:t>25.06.2025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865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BF5B7-CD90-411E-B223-25E2EB2B6859}" type="datetime1">
              <a:rPr lang="ru-RU" smtClean="0"/>
              <a:t>25.06.2025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405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CC44F-BCAD-46FC-81AF-8F5E393DCF7C}" type="datetime1">
              <a:rPr lang="ru-RU" smtClean="0"/>
              <a:t>25.06.2025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087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E222C-F171-43E8-99BF-E479FEDC95B2}" type="datetime1">
              <a:rPr lang="ru-RU" smtClean="0"/>
              <a:t>25.06.2025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77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F87A-1C4A-40D9-93B8-F4C9AAFC991A}" type="datetime1">
              <a:rPr lang="ru-RU" smtClean="0"/>
              <a:t>25.06.2025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520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C549-24A6-41C9-B1CD-172AA9F091CD}" type="datetime1">
              <a:rPr lang="ru-RU" smtClean="0"/>
              <a:t>25.06.2025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523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1A291-5FFF-4948-9A9E-5095747A5D08}" type="datetime1">
              <a:rPr lang="ru-RU" smtClean="0"/>
              <a:t>25.06.2025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F87BA-13E1-47E7-ABDF-D278973B8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8708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3184"/>
          </a:xfrm>
        </p:spPr>
        <p:txBody>
          <a:bodyPr>
            <a:normAutofit/>
          </a:bodyPr>
          <a:lstStyle/>
          <a:p>
            <a:r>
              <a:rPr lang="ru-RU" sz="2800" b="1" dirty="0" smtClean="0">
                <a:solidFill>
                  <a:schemeClr val="accent5">
                    <a:lumMod val="75000"/>
                  </a:schemeClr>
                </a:solidFill>
              </a:rPr>
              <a:t>Модель </a:t>
            </a:r>
            <a:r>
              <a:rPr lang="ru-RU" sz="2800" b="1" dirty="0" smtClean="0">
                <a:solidFill>
                  <a:schemeClr val="accent5">
                    <a:lumMod val="75000"/>
                  </a:schemeClr>
                </a:solidFill>
              </a:rPr>
              <a:t>склонности к МК</a:t>
            </a:r>
            <a:endParaRPr lang="ru-RU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86230" y="1690688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566319" y="3642364"/>
            <a:ext cx="84040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Источник данных</a:t>
            </a:r>
            <a:r>
              <a:rPr lang="en-US" dirty="0" smtClean="0"/>
              <a:t>: </a:t>
            </a:r>
            <a:r>
              <a:rPr lang="en-US" dirty="0"/>
              <a:t>b2b_cltv_stg.mk_features_beemetrics_d1 (</a:t>
            </a:r>
            <a:r>
              <a:rPr lang="ru-RU" dirty="0"/>
              <a:t>данные МК</a:t>
            </a:r>
            <a:r>
              <a:rPr lang="ru-RU" dirty="0" smtClean="0"/>
              <a:t>)</a:t>
            </a:r>
          </a:p>
          <a:p>
            <a:r>
              <a:rPr lang="ru-RU" dirty="0" smtClean="0"/>
              <a:t>                                   </a:t>
            </a:r>
            <a:r>
              <a:rPr lang="en-US" dirty="0" smtClean="0"/>
              <a:t>b2b_cltv_stg.mob_products_all_features_beemetrics_d2 </a:t>
            </a:r>
            <a:r>
              <a:rPr lang="en-US" dirty="0"/>
              <a:t>(</a:t>
            </a:r>
            <a:r>
              <a:rPr lang="ru-RU" dirty="0"/>
              <a:t>все ИНН</a:t>
            </a:r>
            <a:r>
              <a:rPr lang="ru-RU" dirty="0" smtClean="0"/>
              <a:t>)</a:t>
            </a:r>
          </a:p>
          <a:p>
            <a:endParaRPr lang="en-US" dirty="0" smtClean="0"/>
          </a:p>
          <a:p>
            <a:r>
              <a:rPr lang="ru-RU" dirty="0" smtClean="0"/>
              <a:t>В периметр задачи забираем </a:t>
            </a:r>
            <a:r>
              <a:rPr lang="ru-RU" dirty="0" smtClean="0"/>
              <a:t>сегменты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r>
              <a:rPr lang="en-US" dirty="0"/>
              <a:t>SME, </a:t>
            </a:r>
            <a:r>
              <a:rPr lang="en-US" dirty="0" smtClean="0"/>
              <a:t>LA, </a:t>
            </a:r>
            <a:r>
              <a:rPr lang="en-US" dirty="0" smtClean="0"/>
              <a:t>KA 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66319" y="1209218"/>
            <a:ext cx="110583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spc="125" dirty="0">
                <a:solidFill>
                  <a:srgbClr val="FFC000"/>
                </a:solidFill>
              </a:rPr>
              <a:t>«Моя </a:t>
            </a:r>
            <a:r>
              <a:rPr lang="ru-RU" b="1" spc="125" dirty="0" smtClean="0">
                <a:solidFill>
                  <a:srgbClr val="FFC000"/>
                </a:solidFill>
              </a:rPr>
              <a:t>Компания»</a:t>
            </a:r>
            <a:r>
              <a:rPr lang="en-US" spc="125" dirty="0" smtClean="0"/>
              <a:t>:</a:t>
            </a:r>
            <a:r>
              <a:rPr lang="en-US" spc="125" dirty="0" smtClean="0">
                <a:solidFill>
                  <a:srgbClr val="FFC000"/>
                </a:solidFill>
              </a:rPr>
              <a:t> </a:t>
            </a:r>
            <a:r>
              <a:rPr lang="ru-RU" dirty="0" smtClean="0">
                <a:cs typeface="Arial" panose="020B0604020202020204" pitchFamily="34" charset="0"/>
              </a:rPr>
              <a:t>программа </a:t>
            </a:r>
            <a:r>
              <a:rPr lang="ru-RU" dirty="0">
                <a:cs typeface="Arial" panose="020B0604020202020204" pitchFamily="34" charset="0"/>
              </a:rPr>
              <a:t>дает возможность подключить корпоративные тарифы тем сотрудникам, которым Клиент не оплачивает затраты на корпоративную связь, а также распространить льготные условия на семьи </a:t>
            </a:r>
            <a:r>
              <a:rPr lang="ru-RU" dirty="0" smtClean="0">
                <a:cs typeface="Arial" panose="020B0604020202020204" pitchFamily="34" charset="0"/>
              </a:rPr>
              <a:t>сотрудников.</a:t>
            </a:r>
            <a:endParaRPr lang="ru-RU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pc="125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Цель модели – определить клиентов, склонных к подключению услуги МК. </a:t>
            </a:r>
            <a:endParaRPr lang="ru-RU" dirty="0" smtClean="0"/>
          </a:p>
          <a:p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Применение модели приведет к расширению клиентской базы и выручки Билайна</a:t>
            </a:r>
            <a:r>
              <a:rPr lang="ru-RU" dirty="0" smtClean="0"/>
              <a:t>. </a:t>
            </a:r>
            <a:endParaRPr lang="en-US" dirty="0"/>
          </a:p>
          <a:p>
            <a:endParaRPr lang="ru-RU" dirty="0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1</a:t>
            </a:fld>
            <a:endParaRPr lang="ru-RU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636863"/>
              </p:ext>
            </p:extLst>
          </p:nvPr>
        </p:nvGraphicFramePr>
        <p:xfrm>
          <a:off x="3049409" y="5244514"/>
          <a:ext cx="4184211" cy="770647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072735">
                  <a:extLst>
                    <a:ext uri="{9D8B030D-6E8A-4147-A177-3AD203B41FA5}">
                      <a16:colId xmlns:a16="http://schemas.microsoft.com/office/drawing/2014/main" val="2334572724"/>
                    </a:ext>
                  </a:extLst>
                </a:gridCol>
                <a:gridCol w="2111476">
                  <a:extLst>
                    <a:ext uri="{9D8B030D-6E8A-4147-A177-3AD203B41FA5}">
                      <a16:colId xmlns:a16="http://schemas.microsoft.com/office/drawing/2014/main" val="3754368721"/>
                    </a:ext>
                  </a:extLst>
                </a:gridCol>
              </a:tblGrid>
              <a:tr h="510052">
                <a:tc>
                  <a:txBody>
                    <a:bodyPr/>
                    <a:lstStyle/>
                    <a:p>
                      <a:pPr lvl="0" algn="l" fontAlgn="b"/>
                      <a:r>
                        <a:rPr lang="ru-RU" sz="1400" b="1" u="none" strike="noStrike" dirty="0" smtClean="0">
                          <a:effectLst/>
                        </a:rPr>
                        <a:t>Кол-во организаций на 2025-04-01: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lvl="0" algn="l" defTabSz="914400" rtl="0" eaLnBrk="1" fontAlgn="b" latinLnBrk="0" hangingPunct="1"/>
                      <a:r>
                        <a:rPr lang="ru-RU" sz="1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Кол-во </a:t>
                      </a:r>
                      <a:r>
                        <a:rPr lang="ru-RU" sz="1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организаций </a:t>
                      </a:r>
                      <a:br>
                        <a:rPr lang="ru-RU" sz="1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4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склонных к МК:</a:t>
                      </a:r>
                      <a:endParaRPr lang="ru-RU" sz="1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1716289"/>
                  </a:ext>
                </a:extLst>
              </a:tr>
              <a:tr h="260595"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u="none" strike="noStrike" dirty="0">
                          <a:effectLst/>
                        </a:rPr>
                        <a:t>                          </a:t>
                      </a:r>
                      <a:r>
                        <a:rPr lang="ru-RU" sz="1400" u="none" strike="noStrike" dirty="0" smtClean="0">
                          <a:effectLst/>
                        </a:rPr>
                        <a:t> </a:t>
                      </a:r>
                      <a:r>
                        <a:rPr lang="ru-RU" sz="1400" dirty="0" smtClean="0"/>
                        <a:t>187 144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400" u="none" strike="noStrike" dirty="0">
                          <a:effectLst/>
                        </a:rPr>
                        <a:t>       </a:t>
                      </a:r>
                      <a:r>
                        <a:rPr lang="ru-RU" sz="1400" dirty="0" smtClean="0"/>
                        <a:t>15 078</a:t>
                      </a:r>
                      <a:r>
                        <a:rPr lang="ru-RU" sz="1400" u="none" strike="noStrike" dirty="0" smtClean="0">
                          <a:effectLst/>
                        </a:rPr>
                        <a:t>  (8%)                    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50041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642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60896"/>
            <a:ext cx="10209028" cy="772559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</a:rPr>
              <a:t>Модель склонности к МК</a:t>
            </a:r>
            <a:endParaRPr lang="ru-RU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2</a:t>
            </a:fld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33991" y="18576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26409" y="1068198"/>
            <a:ext cx="996184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Были отобраны данные </a:t>
            </a:r>
            <a:r>
              <a:rPr lang="ru-RU" sz="1600" dirty="0">
                <a:latin typeface="Calibri" panose="020F0502020204030204" pitchFamily="34" charset="0"/>
              </a:rPr>
              <a:t>за</a:t>
            </a:r>
            <a:r>
              <a:rPr lang="ru-RU" sz="1600" b="1" dirty="0">
                <a:solidFill>
                  <a:srgbClr val="FFC000"/>
                </a:solidFill>
                <a:latin typeface="Calibri" panose="020F0502020204030204" pitchFamily="34" charset="0"/>
              </a:rPr>
              <a:t> </a:t>
            </a:r>
            <a:r>
              <a:rPr lang="ru-RU" sz="1600" b="1" dirty="0" smtClean="0">
                <a:solidFill>
                  <a:srgbClr val="FFC000"/>
                </a:solidFill>
                <a:latin typeface="Calibri" panose="020F0502020204030204" pitchFamily="34" charset="0"/>
              </a:rPr>
              <a:t>март 2025 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года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для обучения модели </a:t>
            </a: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187 </a:t>
            </a: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144 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наблюдений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)</a:t>
            </a:r>
          </a:p>
          <a:p>
            <a:r>
              <a:rPr lang="ru-RU" sz="1600" b="1" dirty="0" err="1"/>
              <a:t>Таргет</a:t>
            </a:r>
            <a:r>
              <a:rPr lang="ru-RU" sz="1600" b="1" dirty="0"/>
              <a:t> </a:t>
            </a:r>
            <a:r>
              <a:rPr lang="ru-RU" sz="1600" b="1" dirty="0" smtClean="0"/>
              <a:t>модели-флаг</a:t>
            </a:r>
            <a:r>
              <a:rPr lang="en-US" sz="1600" dirty="0" smtClean="0"/>
              <a:t>: </a:t>
            </a:r>
            <a:r>
              <a:rPr lang="en-US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count_subs_key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&gt;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0 (</a:t>
            </a: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8</a:t>
            </a:r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85</a:t>
            </a:r>
            <a:r>
              <a:rPr lang="en-US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%)</a:t>
            </a:r>
            <a:endParaRPr lang="ru-RU" sz="16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16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ru-RU" sz="16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Тип </a:t>
            </a:r>
            <a:r>
              <a:rPr lang="ru-RU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модели</a:t>
            </a: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:</a:t>
            </a:r>
            <a:r>
              <a:rPr lang="ru-RU" sz="1600" dirty="0" smtClean="0"/>
              <a:t> </a:t>
            </a:r>
            <a:r>
              <a:rPr lang="en-US" sz="16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LGBMClassifier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     </a:t>
            </a:r>
            <a:r>
              <a:rPr lang="en-US" sz="1600" dirty="0" smtClean="0"/>
              <a:t> </a:t>
            </a:r>
            <a:endParaRPr lang="ru-RU" sz="1600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6195851" y="2407681"/>
            <a:ext cx="5157949" cy="3668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Original set (with </a:t>
            </a:r>
            <a:r>
              <a:rPr lang="en-US" dirty="0" smtClean="0"/>
              <a:t>segment</a:t>
            </a:r>
            <a:r>
              <a:rPr lang="en-US" dirty="0" smtClean="0"/>
              <a:t> </a:t>
            </a:r>
            <a:r>
              <a:rPr lang="en-US" dirty="0" smtClean="0"/>
              <a:t>filter) 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6151658" y="3519642"/>
            <a:ext cx="473963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При тестировании модели </a:t>
            </a:r>
            <a:r>
              <a:rPr lang="ru-RU" sz="1600" dirty="0" smtClean="0"/>
              <a:t>использовалась </a:t>
            </a:r>
            <a:endParaRPr lang="en-US" sz="1600" dirty="0" smtClean="0"/>
          </a:p>
          <a:p>
            <a:r>
              <a:rPr lang="ru-RU" sz="1600" dirty="0" smtClean="0"/>
              <a:t>отложенная выборка</a:t>
            </a:r>
            <a:r>
              <a:rPr lang="en-US" sz="1600" dirty="0" smtClean="0"/>
              <a:t> </a:t>
            </a:r>
            <a:r>
              <a:rPr lang="ru-RU" sz="1600" dirty="0" smtClean="0"/>
              <a:t>за </a:t>
            </a:r>
            <a:r>
              <a:rPr lang="ru-RU" sz="1600" b="1" dirty="0" smtClean="0">
                <a:solidFill>
                  <a:srgbClr val="FFC000"/>
                </a:solidFill>
              </a:rPr>
              <a:t>апрель 2025 </a:t>
            </a:r>
            <a:r>
              <a:rPr lang="ru-RU" sz="1600" dirty="0" smtClean="0"/>
              <a:t>с 2 </a:t>
            </a:r>
            <a:r>
              <a:rPr lang="ru-RU" sz="1600" dirty="0" smtClean="0"/>
              <a:t>подходами</a:t>
            </a:r>
            <a:r>
              <a:rPr lang="en-US" sz="1600" dirty="0" smtClean="0"/>
              <a:t>:</a:t>
            </a:r>
          </a:p>
          <a:p>
            <a:r>
              <a:rPr lang="en-US" sz="1600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кросс-</a:t>
            </a:r>
            <a:r>
              <a:rPr lang="ru-RU" sz="1600" dirty="0" err="1" smtClean="0"/>
              <a:t>валидация</a:t>
            </a:r>
            <a:r>
              <a:rPr lang="ru-RU" sz="1600" dirty="0" smtClean="0"/>
              <a:t> на 4 подмножествах</a:t>
            </a:r>
            <a:endParaRPr lang="en-US" sz="1600" dirty="0" smtClean="0"/>
          </a:p>
          <a:p>
            <a:r>
              <a:rPr lang="en-US" sz="1600" b="1" dirty="0"/>
              <a:t> </a:t>
            </a:r>
            <a:r>
              <a:rPr lang="en-US" sz="1600" b="1" dirty="0" smtClean="0"/>
              <a:t>     AUC</a:t>
            </a:r>
            <a:r>
              <a:rPr lang="en-US" sz="1600" b="1" dirty="0"/>
              <a:t>:</a:t>
            </a:r>
            <a:r>
              <a:rPr lang="en-US" sz="1600" b="1" dirty="0" smtClean="0"/>
              <a:t> </a:t>
            </a:r>
            <a:r>
              <a:rPr lang="en-US" sz="1600" dirty="0" smtClean="0"/>
              <a:t>0.97198</a:t>
            </a:r>
            <a:r>
              <a:rPr lang="en-US" sz="1600" dirty="0"/>
              <a:t>; </a:t>
            </a:r>
            <a:r>
              <a:rPr lang="en-US" sz="1600" dirty="0" smtClean="0"/>
              <a:t>0.9652</a:t>
            </a:r>
            <a:r>
              <a:rPr lang="en-US" sz="1600" dirty="0"/>
              <a:t>; 0,9838; </a:t>
            </a:r>
            <a:r>
              <a:rPr lang="en-US" sz="1600" dirty="0" smtClean="0"/>
              <a:t>0.9784;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</a:t>
            </a:r>
            <a:r>
              <a:rPr lang="ru-RU" sz="1600" dirty="0" smtClean="0"/>
              <a:t>роверка на всей отложенной выборке</a:t>
            </a:r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AUC</a:t>
            </a:r>
            <a:r>
              <a:rPr lang="en-US" sz="1600" dirty="0" smtClean="0"/>
              <a:t>: 0.9802</a:t>
            </a:r>
            <a:r>
              <a:rPr lang="ru-RU" sz="1600" dirty="0" smtClean="0"/>
              <a:t> (график)</a:t>
            </a:r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19" y="2226989"/>
            <a:ext cx="4914900" cy="3911512"/>
          </a:xfrm>
          <a:prstGeom prst="rect">
            <a:avLst/>
          </a:prstGeom>
        </p:spPr>
      </p:pic>
      <p:sp>
        <p:nvSpPr>
          <p:cNvPr id="20" name="Прямоугольник 19"/>
          <p:cNvSpPr/>
          <p:nvPr/>
        </p:nvSpPr>
        <p:spPr>
          <a:xfrm>
            <a:off x="6195852" y="2872426"/>
            <a:ext cx="1218936" cy="3815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4-fold </a:t>
            </a:r>
            <a:r>
              <a:rPr lang="en-US" sz="1600" dirty="0">
                <a:solidFill>
                  <a:schemeClr val="bg1"/>
                </a:solidFill>
              </a:rPr>
              <a:t>(</a:t>
            </a:r>
            <a:r>
              <a:rPr lang="en-US" sz="1600" dirty="0" smtClean="0">
                <a:solidFill>
                  <a:schemeClr val="bg1"/>
                </a:solidFill>
              </a:rPr>
              <a:t>25%)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35" name="Прямоугольник 34"/>
          <p:cNvSpPr/>
          <p:nvPr/>
        </p:nvSpPr>
        <p:spPr>
          <a:xfrm>
            <a:off x="7507972" y="2872426"/>
            <a:ext cx="1218936" cy="3815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4-fold </a:t>
            </a:r>
            <a:r>
              <a:rPr lang="en-US" sz="1600" dirty="0">
                <a:solidFill>
                  <a:schemeClr val="bg1"/>
                </a:solidFill>
              </a:rPr>
              <a:t>(</a:t>
            </a:r>
            <a:r>
              <a:rPr lang="en-US" sz="1600" dirty="0" smtClean="0">
                <a:solidFill>
                  <a:schemeClr val="bg1"/>
                </a:solidFill>
              </a:rPr>
              <a:t>25%)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36" name="Прямоугольник 35"/>
          <p:cNvSpPr/>
          <p:nvPr/>
        </p:nvSpPr>
        <p:spPr>
          <a:xfrm>
            <a:off x="8820092" y="2872426"/>
            <a:ext cx="1218936" cy="3815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4-fold </a:t>
            </a:r>
            <a:r>
              <a:rPr lang="en-US" sz="1600" dirty="0">
                <a:solidFill>
                  <a:schemeClr val="bg1"/>
                </a:solidFill>
              </a:rPr>
              <a:t>(</a:t>
            </a:r>
            <a:r>
              <a:rPr lang="en-US" sz="1600" dirty="0" smtClean="0">
                <a:solidFill>
                  <a:schemeClr val="bg1"/>
                </a:solidFill>
              </a:rPr>
              <a:t>25%)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37" name="Прямоугольник 36"/>
          <p:cNvSpPr/>
          <p:nvPr/>
        </p:nvSpPr>
        <p:spPr>
          <a:xfrm>
            <a:off x="10134864" y="2872426"/>
            <a:ext cx="1218936" cy="3815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4-fold </a:t>
            </a:r>
            <a:r>
              <a:rPr lang="en-US" sz="1600" dirty="0">
                <a:solidFill>
                  <a:schemeClr val="bg1"/>
                </a:solidFill>
              </a:rPr>
              <a:t>(</a:t>
            </a:r>
            <a:r>
              <a:rPr lang="en-US" sz="1600" dirty="0" smtClean="0">
                <a:solidFill>
                  <a:schemeClr val="bg1"/>
                </a:solidFill>
              </a:rPr>
              <a:t>25%)</a:t>
            </a:r>
            <a:endParaRPr lang="ru-R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643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353" y="1467816"/>
            <a:ext cx="6705600" cy="501967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64215"/>
            <a:ext cx="10515600" cy="804456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</a:rPr>
              <a:t>Модель склонности к МК</a:t>
            </a:r>
            <a:endParaRPr lang="ru-RU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3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118512" y="20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508591" y="1118336"/>
            <a:ext cx="65288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Из </a:t>
            </a:r>
            <a:r>
              <a:rPr lang="en-US" sz="1600" dirty="0" smtClean="0"/>
              <a:t>462</a:t>
            </a:r>
            <a:r>
              <a:rPr lang="ru-RU" sz="1600" dirty="0" smtClean="0"/>
              <a:t> </a:t>
            </a:r>
            <a:r>
              <a:rPr lang="ru-RU" sz="1600" dirty="0" smtClean="0"/>
              <a:t>переменных витрины было отобрано </a:t>
            </a:r>
            <a:r>
              <a:rPr lang="en-US" sz="1600" b="1" dirty="0" smtClean="0"/>
              <a:t>28</a:t>
            </a:r>
            <a:r>
              <a:rPr lang="en-US" sz="1600" b="1" dirty="0" smtClean="0"/>
              <a:t> </a:t>
            </a:r>
            <a:r>
              <a:rPr lang="ru-RU" sz="1600" b="1" dirty="0" smtClean="0"/>
              <a:t>наиболее значимых</a:t>
            </a:r>
            <a:r>
              <a:rPr lang="ru-RU" sz="1600" b="1" dirty="0" smtClean="0">
                <a:solidFill>
                  <a:srgbClr val="FF0000"/>
                </a:solidFill>
              </a:rPr>
              <a:t> </a:t>
            </a:r>
            <a:endParaRPr lang="ru-RU" sz="1600" dirty="0" smtClean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02908" y="1665586"/>
            <a:ext cx="4041427" cy="8463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 smtClean="0">
                <a:solidFill>
                  <a:srgbClr val="FFC000"/>
                </a:solidFill>
              </a:rPr>
              <a:t>Наиболее </a:t>
            </a:r>
            <a:r>
              <a:rPr lang="ru-RU" sz="1600" b="1" dirty="0" smtClean="0">
                <a:solidFill>
                  <a:srgbClr val="FFC000"/>
                </a:solidFill>
              </a:rPr>
              <a:t>значимые переменные</a:t>
            </a:r>
            <a:r>
              <a:rPr lang="en-US" sz="1600" b="1" dirty="0" smtClean="0">
                <a:solidFill>
                  <a:srgbClr val="FFC000"/>
                </a:solidFill>
              </a:rPr>
              <a:t>:</a:t>
            </a:r>
            <a:endParaRPr lang="ru-RU" sz="1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/>
              <a:t>возраст </a:t>
            </a:r>
            <a:r>
              <a:rPr lang="ru-RU" sz="1400" dirty="0"/>
              <a:t>договора в месяцах</a:t>
            </a:r>
            <a:r>
              <a:rPr lang="en-US" sz="1400" dirty="0" smtClean="0"/>
              <a:t>;</a:t>
            </a:r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/>
              <a:t>среднедневная </a:t>
            </a:r>
            <a:r>
              <a:rPr lang="ru-RU" sz="1400" dirty="0"/>
              <a:t>выручка за </a:t>
            </a:r>
            <a:r>
              <a:rPr lang="ru-RU" sz="1400" dirty="0" smtClean="0"/>
              <a:t>доп. </a:t>
            </a:r>
            <a:r>
              <a:rPr lang="ru-RU" sz="1400" dirty="0"/>
              <a:t>услуги по ИНН</a:t>
            </a:r>
            <a:endParaRPr lang="en-US" sz="1400" dirty="0" smtClean="0"/>
          </a:p>
        </p:txBody>
      </p:sp>
      <p:sp>
        <p:nvSpPr>
          <p:cNvPr id="12" name="Прямоугольник 11"/>
          <p:cNvSpPr/>
          <p:nvPr/>
        </p:nvSpPr>
        <p:spPr>
          <a:xfrm>
            <a:off x="400262" y="1665586"/>
            <a:ext cx="6096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smtClean="0"/>
              <a:t>22) </a:t>
            </a:r>
            <a:r>
              <a:rPr lang="ru-RU" sz="1200" dirty="0" smtClean="0"/>
              <a:t>Количество неактивных абонентов на ИНН</a:t>
            </a:r>
          </a:p>
          <a:p>
            <a:r>
              <a:rPr lang="en-US" sz="1200" dirty="0" smtClean="0"/>
              <a:t>21) </a:t>
            </a:r>
            <a:r>
              <a:rPr lang="ru-RU" sz="1200" dirty="0" smtClean="0"/>
              <a:t>12 лаги по среднедневной </a:t>
            </a:r>
            <a:r>
              <a:rPr lang="ru-RU" sz="1200" dirty="0" err="1" smtClean="0"/>
              <a:t>core</a:t>
            </a:r>
            <a:r>
              <a:rPr lang="ru-RU" sz="1200" dirty="0" smtClean="0"/>
              <a:t>-выручки </a:t>
            </a:r>
          </a:p>
          <a:p>
            <a:r>
              <a:rPr lang="en-US" sz="1200" dirty="0" smtClean="0"/>
              <a:t>20) </a:t>
            </a:r>
            <a:r>
              <a:rPr lang="ru-RU" sz="1200" dirty="0" smtClean="0"/>
              <a:t>12 </a:t>
            </a:r>
            <a:r>
              <a:rPr lang="ru-RU" sz="1200" dirty="0"/>
              <a:t>лаги </a:t>
            </a:r>
            <a:r>
              <a:rPr lang="ru-RU" sz="1200" dirty="0" err="1"/>
              <a:t>core</a:t>
            </a:r>
            <a:r>
              <a:rPr lang="ru-RU" sz="1200" dirty="0"/>
              <a:t>-маржи по мобильным продуктам</a:t>
            </a:r>
          </a:p>
          <a:p>
            <a:r>
              <a:rPr lang="en-US" sz="1200" dirty="0" smtClean="0"/>
              <a:t>19) </a:t>
            </a:r>
            <a:r>
              <a:rPr lang="ru-RU" sz="1200" dirty="0" smtClean="0"/>
              <a:t>12 </a:t>
            </a:r>
            <a:r>
              <a:rPr lang="ru-RU" sz="1200" dirty="0"/>
              <a:t>лаги по количеству платящих абонентов  на договоре</a:t>
            </a:r>
          </a:p>
          <a:p>
            <a:r>
              <a:rPr lang="en-US" sz="1200" dirty="0" smtClean="0"/>
              <a:t>18) </a:t>
            </a:r>
            <a:r>
              <a:rPr lang="ru-RU" sz="1200" dirty="0" smtClean="0"/>
              <a:t>Количество </a:t>
            </a:r>
            <a:r>
              <a:rPr lang="ru-RU" sz="1200" dirty="0"/>
              <a:t>платежей в прочей форме по договору</a:t>
            </a:r>
          </a:p>
          <a:p>
            <a:r>
              <a:rPr lang="en-US" sz="1200" dirty="0" smtClean="0"/>
              <a:t>17) </a:t>
            </a:r>
            <a:r>
              <a:rPr lang="ru-RU" sz="1200" dirty="0" smtClean="0"/>
              <a:t>Сегмент </a:t>
            </a:r>
            <a:r>
              <a:rPr lang="ru-RU" sz="1200" dirty="0"/>
              <a:t>SME</a:t>
            </a:r>
          </a:p>
          <a:p>
            <a:r>
              <a:rPr lang="en-US" sz="1200" dirty="0" smtClean="0"/>
              <a:t>16) </a:t>
            </a:r>
            <a:r>
              <a:rPr lang="ru-RU" sz="1200" dirty="0" smtClean="0"/>
              <a:t>12 </a:t>
            </a:r>
            <a:r>
              <a:rPr lang="ru-RU" sz="1200" dirty="0"/>
              <a:t>лаги среднедневной  сервисной выручки на договоре</a:t>
            </a:r>
          </a:p>
          <a:p>
            <a:r>
              <a:rPr lang="en-US" sz="1200" dirty="0" smtClean="0"/>
              <a:t>15) </a:t>
            </a:r>
            <a:r>
              <a:rPr lang="ru-RU" sz="1200" dirty="0" smtClean="0"/>
              <a:t>9 </a:t>
            </a:r>
            <a:r>
              <a:rPr lang="ru-RU" sz="1200" dirty="0"/>
              <a:t>лаг сервисных расходов</a:t>
            </a:r>
          </a:p>
          <a:p>
            <a:r>
              <a:rPr lang="en-US" sz="1200" dirty="0" smtClean="0"/>
              <a:t>14) </a:t>
            </a:r>
            <a:r>
              <a:rPr lang="ru-RU" sz="1200" dirty="0" smtClean="0"/>
              <a:t>12 </a:t>
            </a:r>
            <a:r>
              <a:rPr lang="ru-RU" sz="1200" dirty="0"/>
              <a:t>лаги по количеству активных абонентов на договоре</a:t>
            </a:r>
          </a:p>
          <a:p>
            <a:r>
              <a:rPr lang="en-US" sz="1200" dirty="0" smtClean="0"/>
              <a:t>13) </a:t>
            </a:r>
            <a:r>
              <a:rPr lang="ru-RU" sz="1200" dirty="0" smtClean="0"/>
              <a:t>Количество </a:t>
            </a:r>
            <a:r>
              <a:rPr lang="ru-RU" sz="1200" dirty="0"/>
              <a:t>абонентов с </a:t>
            </a:r>
            <a:r>
              <a:rPr lang="ru-RU" sz="1200" dirty="0" err="1"/>
              <a:t>предоплатными</a:t>
            </a:r>
            <a:r>
              <a:rPr lang="ru-RU" sz="1200" dirty="0"/>
              <a:t> тарифными планами</a:t>
            </a:r>
          </a:p>
          <a:p>
            <a:r>
              <a:rPr lang="en-US" sz="1200" dirty="0" smtClean="0"/>
              <a:t>12) </a:t>
            </a:r>
            <a:r>
              <a:rPr lang="ru-RU" sz="1200" dirty="0" smtClean="0"/>
              <a:t>Количество </a:t>
            </a:r>
            <a:r>
              <a:rPr lang="ru-RU" sz="1200" dirty="0"/>
              <a:t>смс по договору</a:t>
            </a:r>
          </a:p>
          <a:p>
            <a:r>
              <a:rPr lang="en-US" sz="1200" dirty="0" smtClean="0"/>
              <a:t>11) </a:t>
            </a:r>
            <a:r>
              <a:rPr lang="ru-RU" sz="1200" dirty="0" smtClean="0"/>
              <a:t>Прочие </a:t>
            </a:r>
            <a:r>
              <a:rPr lang="ru-RU" sz="1200" dirty="0"/>
              <a:t>затраты</a:t>
            </a:r>
          </a:p>
          <a:p>
            <a:r>
              <a:rPr lang="en-US" sz="1200" dirty="0" smtClean="0"/>
              <a:t>10) </a:t>
            </a:r>
            <a:r>
              <a:rPr lang="ru-RU" sz="1200" dirty="0" smtClean="0"/>
              <a:t>Среднедневные </a:t>
            </a:r>
            <a:r>
              <a:rPr lang="ru-RU" sz="1200" dirty="0"/>
              <a:t>затраты за прочие VAS услуги на ИНН</a:t>
            </a:r>
          </a:p>
          <a:p>
            <a:r>
              <a:rPr lang="en-US" sz="1200" dirty="0" smtClean="0"/>
              <a:t>9) </a:t>
            </a:r>
            <a:r>
              <a:rPr lang="ru-RU" sz="1200" dirty="0" smtClean="0"/>
              <a:t>Сумма </a:t>
            </a:r>
            <a:r>
              <a:rPr lang="ru-RU" sz="1200" dirty="0"/>
              <a:t>платежей в прочей форме по договору</a:t>
            </a:r>
          </a:p>
          <a:p>
            <a:r>
              <a:rPr lang="en-US" sz="1200" dirty="0" smtClean="0"/>
              <a:t>8) </a:t>
            </a:r>
            <a:r>
              <a:rPr lang="ru-RU" sz="1200" dirty="0" smtClean="0"/>
              <a:t>12 </a:t>
            </a:r>
            <a:r>
              <a:rPr lang="ru-RU" sz="1200" dirty="0"/>
              <a:t>лаги по среднедневному исходящему трафику на договоре</a:t>
            </a:r>
          </a:p>
          <a:p>
            <a:r>
              <a:rPr lang="en-US" sz="1200" dirty="0" smtClean="0"/>
              <a:t>7) </a:t>
            </a:r>
            <a:r>
              <a:rPr lang="ru-RU" sz="1200" dirty="0" smtClean="0"/>
              <a:t>6 </a:t>
            </a:r>
            <a:r>
              <a:rPr lang="ru-RU" sz="1200" dirty="0"/>
              <a:t>лаги </a:t>
            </a:r>
            <a:r>
              <a:rPr lang="ru-RU" sz="1200" dirty="0" err="1"/>
              <a:t>core</a:t>
            </a:r>
            <a:r>
              <a:rPr lang="ru-RU" sz="1200" dirty="0"/>
              <a:t>-маржи по мобильным продуктам</a:t>
            </a:r>
          </a:p>
          <a:p>
            <a:r>
              <a:rPr lang="en-US" sz="1200" dirty="0" smtClean="0"/>
              <a:t>6) </a:t>
            </a:r>
            <a:r>
              <a:rPr lang="ru-RU" sz="1200" dirty="0" smtClean="0"/>
              <a:t>Количество </a:t>
            </a:r>
            <a:r>
              <a:rPr lang="ru-RU" sz="1200" dirty="0"/>
              <a:t>смс по ИНН</a:t>
            </a:r>
          </a:p>
          <a:p>
            <a:r>
              <a:rPr lang="en-US" sz="1200" dirty="0" smtClean="0"/>
              <a:t>5) </a:t>
            </a:r>
            <a:r>
              <a:rPr lang="ru-RU" sz="1200" dirty="0" smtClean="0"/>
              <a:t>Среднедневной </a:t>
            </a:r>
            <a:r>
              <a:rPr lang="ru-RU" sz="1200" dirty="0"/>
              <a:t>входящий трафик по ИНН</a:t>
            </a:r>
          </a:p>
          <a:p>
            <a:r>
              <a:rPr lang="en-US" sz="1200" dirty="0" smtClean="0"/>
              <a:t>4) </a:t>
            </a:r>
            <a:r>
              <a:rPr lang="ru-RU" sz="1200" dirty="0" smtClean="0"/>
              <a:t>Количество </a:t>
            </a:r>
            <a:r>
              <a:rPr lang="ru-RU" sz="1200" dirty="0"/>
              <a:t>платежей в форме банковского перевода по договору</a:t>
            </a:r>
          </a:p>
          <a:p>
            <a:r>
              <a:rPr lang="en-US" sz="1200" dirty="0" smtClean="0"/>
              <a:t>3) </a:t>
            </a:r>
            <a:r>
              <a:rPr lang="ru-RU" sz="1200" dirty="0" smtClean="0"/>
              <a:t>12 </a:t>
            </a:r>
            <a:r>
              <a:rPr lang="ru-RU" sz="1200" dirty="0"/>
              <a:t>лаги GPRS трафика по договору</a:t>
            </a:r>
          </a:p>
          <a:p>
            <a:r>
              <a:rPr lang="en-US" sz="1200" dirty="0" smtClean="0"/>
              <a:t>2) </a:t>
            </a:r>
            <a:r>
              <a:rPr lang="ru-RU" sz="1200" dirty="0" smtClean="0"/>
              <a:t>Среднедневная </a:t>
            </a:r>
            <a:r>
              <a:rPr lang="ru-RU" sz="1200" dirty="0"/>
              <a:t>выручка за </a:t>
            </a:r>
            <a:r>
              <a:rPr lang="ru-RU" sz="1200" dirty="0" err="1"/>
              <a:t>доп</a:t>
            </a:r>
            <a:r>
              <a:rPr lang="ru-RU" sz="1200" dirty="0"/>
              <a:t> услуги по ИНН</a:t>
            </a:r>
          </a:p>
          <a:p>
            <a:r>
              <a:rPr lang="en-US" sz="1200" dirty="0" smtClean="0"/>
              <a:t>1) </a:t>
            </a:r>
            <a:r>
              <a:rPr lang="ru-RU" sz="1200" dirty="0" smtClean="0"/>
              <a:t>Возраст </a:t>
            </a:r>
            <a:r>
              <a:rPr lang="ru-RU" sz="1200" dirty="0"/>
              <a:t>договора в месяцах</a:t>
            </a:r>
          </a:p>
        </p:txBody>
      </p:sp>
    </p:spTree>
    <p:extLst>
      <p:ext uri="{BB962C8B-B14F-4D97-AF65-F5344CB8AC3E}">
        <p14:creationId xmlns:p14="http://schemas.microsoft.com/office/powerpoint/2010/main" val="37908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37325"/>
            <a:ext cx="10209028" cy="655601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</a:rPr>
              <a:t>Модель склонности к МК</a:t>
            </a:r>
            <a:endParaRPr lang="ru-RU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4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118512" y="20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18100" y="872319"/>
            <a:ext cx="81176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Основные метрики принятие решения по модели</a:t>
            </a:r>
            <a:r>
              <a:rPr lang="en-US" sz="1600" dirty="0" smtClean="0"/>
              <a:t>: </a:t>
            </a:r>
            <a:r>
              <a:rPr lang="en-US" sz="1600" b="1" dirty="0" smtClean="0"/>
              <a:t>Precision</a:t>
            </a:r>
            <a:r>
              <a:rPr lang="en-US" sz="1600" dirty="0" smtClean="0"/>
              <a:t> – </a:t>
            </a:r>
            <a:r>
              <a:rPr lang="ru-RU" sz="1600" dirty="0" smtClean="0"/>
              <a:t>точность</a:t>
            </a:r>
            <a:r>
              <a:rPr lang="en-US" sz="1600" dirty="0" smtClean="0"/>
              <a:t>,</a:t>
            </a:r>
            <a:r>
              <a:rPr lang="ru-RU" sz="1600" dirty="0" smtClean="0"/>
              <a:t> </a:t>
            </a:r>
            <a:r>
              <a:rPr lang="en-US" sz="1600" b="1" dirty="0" smtClean="0"/>
              <a:t>Recall</a:t>
            </a:r>
            <a:r>
              <a:rPr lang="ru-RU" sz="1600" b="1" dirty="0" smtClean="0"/>
              <a:t> </a:t>
            </a:r>
            <a:r>
              <a:rPr lang="ru-RU" sz="1600" dirty="0" smtClean="0"/>
              <a:t>– полнота</a:t>
            </a:r>
            <a:endParaRPr lang="en-US" sz="1600" dirty="0" smtClean="0"/>
          </a:p>
          <a:p>
            <a:endParaRPr lang="en-US" sz="16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618100" y="1241505"/>
            <a:ext cx="364452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Зависимость точности и полноты от </a:t>
            </a:r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порога отсечения</a:t>
            </a:r>
            <a:r>
              <a:rPr lang="en-US" sz="1600" dirty="0" smtClean="0"/>
              <a:t> (threshold):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5428401" y="1344178"/>
            <a:ext cx="612372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Кол-во организаций, предлагаемых моделью для рассмотрения </a:t>
            </a:r>
          </a:p>
          <a:p>
            <a:r>
              <a:rPr lang="en-US" sz="1600" dirty="0" smtClean="0"/>
              <a:t>      </a:t>
            </a:r>
            <a:r>
              <a:rPr lang="ru-RU" sz="1600" dirty="0" smtClean="0"/>
              <a:t>в зависимости от порога отсечения</a:t>
            </a:r>
            <a:r>
              <a:rPr lang="en-US" sz="1600" dirty="0" smtClean="0"/>
              <a:t>:</a:t>
            </a:r>
            <a:r>
              <a:rPr lang="ru-RU" sz="1600" dirty="0" smtClean="0"/>
              <a:t> </a:t>
            </a:r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556" y="1941476"/>
            <a:ext cx="3575956" cy="3149096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524" y="2037029"/>
            <a:ext cx="4745384" cy="345353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524" y="5186125"/>
            <a:ext cx="3652988" cy="133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5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118512" y="20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367872" y="858061"/>
            <a:ext cx="991245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 smtClean="0"/>
              <a:t>Проскорили</a:t>
            </a:r>
            <a:r>
              <a:rPr lang="ru-RU" sz="1600" dirty="0" smtClean="0"/>
              <a:t> организации из витрины </a:t>
            </a:r>
            <a:r>
              <a:rPr lang="en-US" sz="1600" dirty="0" smtClean="0"/>
              <a:t>b2b_cltv_stg.mob_products_all_features_beemetrics_d2</a:t>
            </a:r>
            <a:r>
              <a:rPr lang="ru-RU" sz="1600" dirty="0" smtClean="0"/>
              <a:t> на 2025-04-01</a:t>
            </a:r>
            <a:r>
              <a:rPr lang="en-US" sz="1600" dirty="0" smtClean="0"/>
              <a:t>: </a:t>
            </a:r>
            <a:endParaRPr lang="ru-RU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 smtClean="0"/>
              <a:t>187</a:t>
            </a:r>
            <a:r>
              <a:rPr lang="en-US" sz="1600" b="1" dirty="0" smtClean="0"/>
              <a:t> </a:t>
            </a:r>
            <a:r>
              <a:rPr lang="ru-RU" sz="1600" b="1" dirty="0" smtClean="0"/>
              <a:t>144</a:t>
            </a:r>
            <a:r>
              <a:rPr lang="en-US" sz="1600" b="1" dirty="0" smtClean="0"/>
              <a:t> </a:t>
            </a:r>
            <a:r>
              <a:rPr lang="ru-RU" sz="1600" b="1" dirty="0" smtClean="0"/>
              <a:t>организации</a:t>
            </a:r>
            <a:endParaRPr lang="ru-RU" sz="1600" dirty="0" smtClean="0"/>
          </a:p>
          <a:p>
            <a:endParaRPr lang="ru-RU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Отобрали </a:t>
            </a:r>
            <a:r>
              <a:rPr lang="en-US" sz="1600" b="1" dirty="0"/>
              <a:t>top </a:t>
            </a:r>
            <a:r>
              <a:rPr lang="ru-RU" sz="1600" b="1" dirty="0"/>
              <a:t>1</a:t>
            </a:r>
            <a:r>
              <a:rPr lang="en-US" sz="1600" b="1" dirty="0"/>
              <a:t>5</a:t>
            </a:r>
            <a:r>
              <a:rPr lang="ru-RU" sz="1600" dirty="0"/>
              <a:t> компаний</a:t>
            </a:r>
            <a:r>
              <a:rPr lang="en-US" sz="1600" dirty="0"/>
              <a:t> </a:t>
            </a:r>
            <a:r>
              <a:rPr lang="ru-RU" sz="1600" dirty="0"/>
              <a:t>по </a:t>
            </a:r>
            <a:r>
              <a:rPr lang="ru-RU" sz="1600" dirty="0" err="1"/>
              <a:t>скору</a:t>
            </a:r>
            <a:r>
              <a:rPr lang="en-US" sz="1600" dirty="0"/>
              <a:t>:</a:t>
            </a:r>
            <a:endParaRPr lang="ru-RU" sz="1600" dirty="0"/>
          </a:p>
          <a:p>
            <a:endParaRPr lang="ru-RU" sz="1600" dirty="0" smtClean="0"/>
          </a:p>
        </p:txBody>
      </p:sp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838200" y="237325"/>
            <a:ext cx="10209028" cy="655601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</a:rPr>
              <a:t>Модель склонности к МК</a:t>
            </a:r>
            <a:endParaRPr lang="ru-RU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72" y="2087108"/>
            <a:ext cx="4349747" cy="3226992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992" y="1395554"/>
            <a:ext cx="577215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1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6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118512" y="20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367872" y="858061"/>
            <a:ext cx="905555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 smtClean="0"/>
              <a:t>Проскорили</a:t>
            </a:r>
            <a:r>
              <a:rPr lang="ru-RU" sz="1600" dirty="0" smtClean="0"/>
              <a:t> </a:t>
            </a:r>
            <a:r>
              <a:rPr lang="ru-RU" sz="1600" b="1" dirty="0" smtClean="0">
                <a:solidFill>
                  <a:srgbClr val="FFC000"/>
                </a:solidFill>
              </a:rPr>
              <a:t>ИП</a:t>
            </a:r>
            <a:r>
              <a:rPr lang="ru-RU" sz="1600" dirty="0" smtClean="0"/>
              <a:t> </a:t>
            </a:r>
            <a:r>
              <a:rPr lang="ru-RU" sz="1600" dirty="0" smtClean="0"/>
              <a:t>из витрины </a:t>
            </a:r>
            <a:r>
              <a:rPr lang="en-US" sz="1600" dirty="0" smtClean="0"/>
              <a:t>b2b_cltv_stg.mob_products_all_features_beemetrics_d2</a:t>
            </a:r>
            <a:r>
              <a:rPr lang="ru-RU" sz="1600" dirty="0" smtClean="0"/>
              <a:t> на 2025-04-01</a:t>
            </a:r>
            <a:r>
              <a:rPr lang="en-US" sz="1600" dirty="0" smtClean="0"/>
              <a:t>: </a:t>
            </a:r>
            <a:endParaRPr lang="en-US" sz="1600" dirty="0"/>
          </a:p>
          <a:p>
            <a:r>
              <a:rPr lang="en-US" sz="1600" b="1" dirty="0" smtClean="0"/>
              <a:t>      45 556 </a:t>
            </a:r>
            <a:r>
              <a:rPr lang="ru-RU" sz="1600" b="1" dirty="0" smtClean="0"/>
              <a:t>организации</a:t>
            </a:r>
            <a:r>
              <a:rPr lang="en-US" sz="1600" b="1" dirty="0" smtClean="0"/>
              <a:t> (24</a:t>
            </a:r>
            <a:r>
              <a:rPr lang="ru-RU" sz="1600" b="1" dirty="0"/>
              <a:t>%</a:t>
            </a:r>
            <a:r>
              <a:rPr lang="en-US" sz="1600" b="1" dirty="0" smtClean="0"/>
              <a:t>)</a:t>
            </a:r>
            <a:endParaRPr lang="ru-RU" sz="1600" dirty="0" smtClean="0"/>
          </a:p>
          <a:p>
            <a:endParaRPr lang="ru-RU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Отобрали </a:t>
            </a:r>
            <a:r>
              <a:rPr lang="en-US" sz="1600" b="1" dirty="0"/>
              <a:t>top </a:t>
            </a:r>
            <a:r>
              <a:rPr lang="ru-RU" sz="1600" b="1" dirty="0"/>
              <a:t>1</a:t>
            </a:r>
            <a:r>
              <a:rPr lang="en-US" sz="1600" b="1" dirty="0"/>
              <a:t>5</a:t>
            </a:r>
            <a:r>
              <a:rPr lang="ru-RU" sz="1600" dirty="0"/>
              <a:t> компаний</a:t>
            </a:r>
            <a:r>
              <a:rPr lang="en-US" sz="1600" dirty="0"/>
              <a:t> </a:t>
            </a:r>
            <a:r>
              <a:rPr lang="ru-RU" sz="1600" dirty="0"/>
              <a:t>по </a:t>
            </a:r>
            <a:r>
              <a:rPr lang="ru-RU" sz="1600" dirty="0" err="1"/>
              <a:t>скору</a:t>
            </a:r>
            <a:r>
              <a:rPr lang="en-US" sz="1600" dirty="0"/>
              <a:t>:</a:t>
            </a:r>
            <a:endParaRPr lang="ru-RU" sz="1600" dirty="0"/>
          </a:p>
          <a:p>
            <a:endParaRPr lang="ru-RU" sz="1600" dirty="0" smtClean="0"/>
          </a:p>
        </p:txBody>
      </p:sp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838200" y="237325"/>
            <a:ext cx="10209028" cy="655601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</a:rPr>
              <a:t>Модель склонности к МК</a:t>
            </a:r>
            <a:endParaRPr lang="ru-RU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44" y="2066025"/>
            <a:ext cx="4383621" cy="329721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747" y="1416203"/>
            <a:ext cx="50863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973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6301" y="175461"/>
            <a:ext cx="10209028" cy="655601"/>
          </a:xfrm>
        </p:spPr>
        <p:txBody>
          <a:bodyPr>
            <a:normAutofit/>
          </a:bodyPr>
          <a:lstStyle/>
          <a:p>
            <a:r>
              <a:rPr lang="ru-RU" sz="2400" b="1" dirty="0">
                <a:solidFill>
                  <a:schemeClr val="accent5">
                    <a:lumMod val="75000"/>
                  </a:schemeClr>
                </a:solidFill>
              </a:rPr>
              <a:t>Модель склонности к МК</a:t>
            </a:r>
            <a:endParaRPr lang="ru-RU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7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118512" y="20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444837" y="679216"/>
            <a:ext cx="98579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 smtClean="0"/>
              <a:t>Проскорили</a:t>
            </a:r>
            <a:r>
              <a:rPr lang="ru-RU" sz="1600" dirty="0" smtClean="0"/>
              <a:t> организации из витрины </a:t>
            </a:r>
            <a:r>
              <a:rPr lang="en-US" sz="1600" dirty="0" smtClean="0"/>
              <a:t>b2b_cltv_stg.mob_products_all_features_beemetrics_d2</a:t>
            </a:r>
            <a:r>
              <a:rPr lang="ru-RU" sz="1600" dirty="0" smtClean="0"/>
              <a:t> на </a:t>
            </a:r>
            <a:r>
              <a:rPr lang="ru-RU" sz="1600" dirty="0"/>
              <a:t>2025-04-01</a:t>
            </a:r>
            <a:r>
              <a:rPr lang="ru-RU" sz="1600" dirty="0" smtClean="0"/>
              <a:t> </a:t>
            </a:r>
            <a:endParaRPr lang="en-US" sz="1600" dirty="0" smtClean="0"/>
          </a:p>
          <a:p>
            <a:r>
              <a:rPr lang="en-US" sz="1600" dirty="0" smtClean="0"/>
              <a:t>      </a:t>
            </a:r>
            <a:r>
              <a:rPr lang="ru-RU" sz="1600" b="1" dirty="0" smtClean="0">
                <a:solidFill>
                  <a:srgbClr val="FFC000"/>
                </a:solidFill>
              </a:rPr>
              <a:t>без подключенной опции МК</a:t>
            </a:r>
            <a:r>
              <a:rPr lang="en-US" sz="1600" dirty="0" smtClean="0"/>
              <a:t>: </a:t>
            </a:r>
            <a:r>
              <a:rPr lang="ru-RU" sz="1600" b="1" dirty="0" smtClean="0"/>
              <a:t>172</a:t>
            </a:r>
            <a:r>
              <a:rPr lang="en-US" sz="1600" b="1" dirty="0" smtClean="0"/>
              <a:t> </a:t>
            </a:r>
            <a:r>
              <a:rPr lang="ru-RU" sz="1600" b="1" dirty="0" smtClean="0"/>
              <a:t>066</a:t>
            </a:r>
            <a:r>
              <a:rPr lang="en-US" sz="1600" b="1" dirty="0" smtClean="0"/>
              <a:t> </a:t>
            </a:r>
            <a:r>
              <a:rPr lang="ru-RU" sz="1600" b="1" dirty="0" smtClean="0"/>
              <a:t>организации</a:t>
            </a:r>
            <a:endParaRPr lang="en-US" sz="1600" dirty="0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01" y="1225624"/>
            <a:ext cx="3809913" cy="282966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47" y="4026635"/>
            <a:ext cx="3687967" cy="28313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37425" y="1201110"/>
            <a:ext cx="3399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Отобрали </a:t>
            </a:r>
            <a:r>
              <a:rPr lang="en-US" sz="1600" b="1" dirty="0"/>
              <a:t>top </a:t>
            </a:r>
            <a:r>
              <a:rPr lang="ru-RU" sz="1600" b="1" dirty="0"/>
              <a:t>1</a:t>
            </a:r>
            <a:r>
              <a:rPr lang="en-US" sz="1600" b="1" dirty="0"/>
              <a:t>5</a:t>
            </a:r>
            <a:r>
              <a:rPr lang="ru-RU" sz="1600" dirty="0"/>
              <a:t> компаний</a:t>
            </a:r>
            <a:r>
              <a:rPr lang="en-US" sz="1600" dirty="0"/>
              <a:t> </a:t>
            </a:r>
            <a:r>
              <a:rPr lang="ru-RU" sz="1600" dirty="0"/>
              <a:t>по </a:t>
            </a:r>
            <a:r>
              <a:rPr lang="ru-RU" sz="1600" dirty="0" err="1"/>
              <a:t>скору</a:t>
            </a:r>
            <a:r>
              <a:rPr lang="en-US" sz="1600" dirty="0" smtClean="0"/>
              <a:t>:</a:t>
            </a:r>
            <a:endParaRPr lang="ru-RU" sz="16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3814" y="1671532"/>
            <a:ext cx="5019675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6301" y="175461"/>
            <a:ext cx="10209028" cy="655601"/>
          </a:xfrm>
        </p:spPr>
        <p:txBody>
          <a:bodyPr>
            <a:normAutofit/>
          </a:bodyPr>
          <a:lstStyle/>
          <a:p>
            <a:r>
              <a:rPr lang="ru-RU" sz="2400" b="1" dirty="0">
                <a:solidFill>
                  <a:schemeClr val="accent5">
                    <a:lumMod val="75000"/>
                  </a:schemeClr>
                </a:solidFill>
              </a:rPr>
              <a:t>Модель склонности к МК</a:t>
            </a:r>
            <a:endParaRPr lang="ru-RU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8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118512" y="20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444837" y="679216"/>
            <a:ext cx="8997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 smtClean="0"/>
              <a:t>Проскорили</a:t>
            </a:r>
            <a:r>
              <a:rPr lang="ru-RU" sz="1600" dirty="0" smtClean="0"/>
              <a:t> </a:t>
            </a:r>
            <a:r>
              <a:rPr lang="ru-RU" sz="1600" b="1" dirty="0">
                <a:solidFill>
                  <a:srgbClr val="FFC000"/>
                </a:solidFill>
              </a:rPr>
              <a:t>ИП</a:t>
            </a:r>
            <a:r>
              <a:rPr lang="ru-RU" sz="1600" dirty="0" smtClean="0"/>
              <a:t> </a:t>
            </a:r>
            <a:r>
              <a:rPr lang="ru-RU" sz="1600" dirty="0" smtClean="0"/>
              <a:t>из витрины </a:t>
            </a:r>
            <a:r>
              <a:rPr lang="en-US" sz="1600" dirty="0" smtClean="0"/>
              <a:t>b2b_cltv_stg.mob_products_all_features_beemetrics_d2</a:t>
            </a:r>
            <a:r>
              <a:rPr lang="ru-RU" sz="1600" dirty="0" smtClean="0"/>
              <a:t> на </a:t>
            </a:r>
            <a:r>
              <a:rPr lang="ru-RU" sz="1600" dirty="0"/>
              <a:t>2025-04-01</a:t>
            </a:r>
            <a:r>
              <a:rPr lang="ru-RU" sz="1600" dirty="0" smtClean="0"/>
              <a:t> </a:t>
            </a:r>
            <a:endParaRPr lang="en-US" sz="1600" dirty="0" smtClean="0"/>
          </a:p>
          <a:p>
            <a:r>
              <a:rPr lang="en-US" sz="1600" dirty="0" smtClean="0"/>
              <a:t>      </a:t>
            </a:r>
            <a:r>
              <a:rPr lang="ru-RU" sz="1600" b="1" dirty="0" smtClean="0">
                <a:solidFill>
                  <a:srgbClr val="FFC000"/>
                </a:solidFill>
              </a:rPr>
              <a:t>без подключенной опции МК</a:t>
            </a:r>
            <a:r>
              <a:rPr lang="en-US" sz="1600" dirty="0" smtClean="0"/>
              <a:t>: </a:t>
            </a:r>
            <a:r>
              <a:rPr lang="en-US" sz="1600" b="1" dirty="0" smtClean="0"/>
              <a:t>43 </a:t>
            </a:r>
            <a:r>
              <a:rPr lang="en-US" sz="1600" b="1" dirty="0" smtClean="0"/>
              <a:t>394</a:t>
            </a:r>
            <a:r>
              <a:rPr lang="en-US" sz="1600" b="1" dirty="0" smtClean="0"/>
              <a:t> </a:t>
            </a:r>
            <a:r>
              <a:rPr lang="ru-RU" sz="1600" b="1" dirty="0" smtClean="0"/>
              <a:t>организации</a:t>
            </a:r>
            <a:r>
              <a:rPr lang="en-US" sz="1600" b="1" dirty="0" smtClean="0"/>
              <a:t> (25%)</a:t>
            </a:r>
            <a:endParaRPr lang="en-US" sz="1600" dirty="0" smtClean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37425" y="1201110"/>
            <a:ext cx="33999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Отобрали </a:t>
            </a:r>
            <a:r>
              <a:rPr lang="en-US" sz="1600" b="1" dirty="0"/>
              <a:t>top </a:t>
            </a:r>
            <a:r>
              <a:rPr lang="ru-RU" sz="1600" b="1" dirty="0"/>
              <a:t>1</a:t>
            </a:r>
            <a:r>
              <a:rPr lang="en-US" sz="1600" b="1" dirty="0"/>
              <a:t>5</a:t>
            </a:r>
            <a:r>
              <a:rPr lang="ru-RU" sz="1600" dirty="0"/>
              <a:t> компаний</a:t>
            </a:r>
            <a:r>
              <a:rPr lang="en-US" sz="1600" dirty="0"/>
              <a:t> </a:t>
            </a:r>
            <a:r>
              <a:rPr lang="ru-RU" sz="1600" dirty="0"/>
              <a:t>по </a:t>
            </a:r>
            <a:r>
              <a:rPr lang="ru-RU" sz="1600" dirty="0" err="1"/>
              <a:t>скору</a:t>
            </a:r>
            <a:r>
              <a:rPr lang="en-US" sz="1600" dirty="0" smtClean="0"/>
              <a:t>:</a:t>
            </a:r>
            <a:endParaRPr lang="ru-RU" sz="16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225" y="1767746"/>
            <a:ext cx="3990975" cy="45720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28" y="3968856"/>
            <a:ext cx="3734940" cy="284223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28" y="1263991"/>
            <a:ext cx="3644405" cy="271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39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6301" y="301544"/>
            <a:ext cx="10209028" cy="655601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</a:rPr>
              <a:t>Модель склонности к МК</a:t>
            </a:r>
            <a:endParaRPr lang="ru-RU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F87BA-13E1-47E7-ABDF-D278973B8E47}" type="slidenum">
              <a:rPr lang="ru-RU" smtClean="0"/>
              <a:t>9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118512" y="20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682682" y="985258"/>
            <a:ext cx="98579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/>
              <a:t>Проскорили</a:t>
            </a:r>
            <a:r>
              <a:rPr lang="ru-RU" sz="1600" dirty="0"/>
              <a:t> организации из витрины </a:t>
            </a:r>
            <a:r>
              <a:rPr lang="en-US" sz="1600" dirty="0"/>
              <a:t>b2b_cltv_stg.mob_products_all_features_beemetrics_d2</a:t>
            </a:r>
            <a:r>
              <a:rPr lang="ru-RU" sz="1600" dirty="0"/>
              <a:t> на 2025-04-01 </a:t>
            </a:r>
            <a:endParaRPr lang="en-US" sz="1600" dirty="0"/>
          </a:p>
          <a:p>
            <a:r>
              <a:rPr lang="en-US" sz="1600" dirty="0"/>
              <a:t>      </a:t>
            </a:r>
            <a:r>
              <a:rPr lang="ru-RU" sz="1600" b="1" dirty="0">
                <a:solidFill>
                  <a:srgbClr val="FFC000"/>
                </a:solidFill>
              </a:rPr>
              <a:t>без подключенной опции МК</a:t>
            </a:r>
            <a:r>
              <a:rPr lang="en-US" sz="1600" dirty="0"/>
              <a:t>: </a:t>
            </a:r>
            <a:r>
              <a:rPr lang="ru-RU" sz="1600" b="1" dirty="0"/>
              <a:t>172</a:t>
            </a:r>
            <a:r>
              <a:rPr lang="en-US" sz="1600" b="1" dirty="0"/>
              <a:t> </a:t>
            </a:r>
            <a:r>
              <a:rPr lang="ru-RU" sz="1600" b="1" dirty="0"/>
              <a:t>066</a:t>
            </a:r>
            <a:r>
              <a:rPr lang="en-US" sz="1600" b="1" dirty="0"/>
              <a:t> </a:t>
            </a:r>
            <a:r>
              <a:rPr lang="ru-RU" sz="1600" b="1" dirty="0"/>
              <a:t>организации</a:t>
            </a:r>
            <a:endParaRPr lang="en-US" sz="1600" dirty="0"/>
          </a:p>
          <a:p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/>
              <a:t>Кол-во организаций, выданных моделью, в зависимости от порога отсечения</a:t>
            </a:r>
            <a:r>
              <a:rPr lang="en-US" sz="1600" dirty="0" smtClean="0"/>
              <a:t>:</a:t>
            </a:r>
            <a:endParaRPr lang="ru-RU" sz="1600" dirty="0"/>
          </a:p>
        </p:txBody>
      </p:sp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948380"/>
              </p:ext>
            </p:extLst>
          </p:nvPr>
        </p:nvGraphicFramePr>
        <p:xfrm>
          <a:off x="1116419" y="2664886"/>
          <a:ext cx="4019106" cy="2609850"/>
        </p:xfrm>
        <a:graphic>
          <a:graphicData uri="http://schemas.openxmlformats.org/drawingml/2006/table">
            <a:tbl>
              <a:tblPr/>
              <a:tblGrid>
                <a:gridCol w="1190846">
                  <a:extLst>
                    <a:ext uri="{9D8B030D-6E8A-4147-A177-3AD203B41FA5}">
                      <a16:colId xmlns:a16="http://schemas.microsoft.com/office/drawing/2014/main" val="902768311"/>
                    </a:ext>
                  </a:extLst>
                </a:gridCol>
                <a:gridCol w="1909381">
                  <a:extLst>
                    <a:ext uri="{9D8B030D-6E8A-4147-A177-3AD203B41FA5}">
                      <a16:colId xmlns:a16="http://schemas.microsoft.com/office/drawing/2014/main" val="537990078"/>
                    </a:ext>
                  </a:extLst>
                </a:gridCol>
                <a:gridCol w="918879">
                  <a:extLst>
                    <a:ext uri="{9D8B030D-6E8A-4147-A177-3AD203B41FA5}">
                      <a16:colId xmlns:a16="http://schemas.microsoft.com/office/drawing/2014/main" val="58432582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Порог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Кол-во организаций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Доля, %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75760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172 066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6049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12 509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2061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5 508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72705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3 042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3022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2 105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85387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1 484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52479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1 063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7981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0,7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                 748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0.43%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9004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0,8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                 457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0.27%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6790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0,9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                 166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0.10%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586531"/>
                  </a:ext>
                </a:extLst>
              </a:tr>
            </a:tbl>
          </a:graphicData>
        </a:graphic>
      </p:graphicFrame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254" y="2221695"/>
            <a:ext cx="517207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10478</TotalTime>
  <Words>659</Words>
  <Application>Microsoft Office PowerPoint</Application>
  <PresentationFormat>Широкоэкранный</PresentationFormat>
  <Paragraphs>130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Модель склонности к МК</vt:lpstr>
      <vt:lpstr>Модель склонности к МК</vt:lpstr>
      <vt:lpstr>Модель склонности к МК</vt:lpstr>
      <vt:lpstr>Модель склонности к МК</vt:lpstr>
      <vt:lpstr>Модель склонности к МК</vt:lpstr>
      <vt:lpstr>Модель склонности к МК</vt:lpstr>
      <vt:lpstr>Модель склонности к МК</vt:lpstr>
      <vt:lpstr>Модель склонности к МК</vt:lpstr>
      <vt:lpstr>Модель склонности к МК</vt:lpstr>
    </vt:vector>
  </TitlesOfParts>
  <Company>Vimpelcom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Модель определения потенциально</dc:title>
  <dc:creator>Загайная Екатерина Михайловна</dc:creator>
  <cp:lastModifiedBy>Загайная Екатерина Михайловна</cp:lastModifiedBy>
  <cp:revision>132</cp:revision>
  <dcterms:created xsi:type="dcterms:W3CDTF">2025-05-12T11:29:43Z</dcterms:created>
  <dcterms:modified xsi:type="dcterms:W3CDTF">2025-06-26T15:20:52Z</dcterms:modified>
</cp:coreProperties>
</file>