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9933"/>
    <a:srgbClr val="FFCC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2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5029-7AD1-44ED-B1FA-880B452FD688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15EEC-B6A8-4B23-A852-F4EF0D6BD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970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215B-1C0B-4D99-BDEE-B8B57C45245B}" type="datetime1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73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649D-6C4C-4CC0-87D2-5D3832D7F043}" type="datetime1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7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9CA0-572A-40AF-9865-E566FE24A8AE}" type="datetime1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657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0B4A-E31D-42F9-967A-2F2738B780AC}" type="datetime1">
              <a:rPr lang="ru-RU" smtClean="0"/>
              <a:t>19.05.2025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00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8F4-C447-4B8D-9930-C1C3967E5CE1}" type="datetime1">
              <a:rPr lang="ru-RU" smtClean="0"/>
              <a:t>19.05.2025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83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D659-7723-4F8D-8363-56843E6D6622}" type="datetime1">
              <a:rPr lang="ru-RU" smtClean="0"/>
              <a:t>19.05.2025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865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BF5B7-CD90-411E-B223-25E2EB2B6859}" type="datetime1">
              <a:rPr lang="ru-RU" smtClean="0"/>
              <a:t>19.05.2025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40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CC44F-BCAD-46FC-81AF-8F5E393DCF7C}" type="datetime1">
              <a:rPr lang="ru-RU" smtClean="0"/>
              <a:t>19.05.2025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08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222C-F171-43E8-99BF-E479FEDC95B2}" type="datetime1">
              <a:rPr lang="ru-RU" smtClean="0"/>
              <a:t>19.05.2025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7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F87A-1C4A-40D9-93B8-F4C9AAFC991A}" type="datetime1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52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C549-24A6-41C9-B1CD-172AA9F091CD}" type="datetime1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52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1A291-5FFF-4948-9A9E-5095747A5D08}" type="datetime1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70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3184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chemeClr val="accent5">
                    <a:lumMod val="75000"/>
                  </a:schemeClr>
                </a:solidFill>
              </a:rPr>
              <a:t>Модель потенциальных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LA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86230" y="169068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75373" y="3461261"/>
            <a:ext cx="70766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Источник данных</a:t>
            </a:r>
            <a:r>
              <a:rPr lang="en-US" dirty="0" smtClean="0"/>
              <a:t>: b2b_profile.org_kontur_focus_galaxy</a:t>
            </a:r>
          </a:p>
          <a:p>
            <a:endParaRPr lang="en-US" dirty="0" smtClean="0"/>
          </a:p>
          <a:p>
            <a:r>
              <a:rPr lang="ru-RU" dirty="0" smtClean="0"/>
              <a:t>В периметр задачи забираем организации с ОПФ</a:t>
            </a:r>
            <a:r>
              <a:rPr lang="en-US" dirty="0" smtClean="0"/>
              <a:t>: OOO, OAO, </a:t>
            </a:r>
            <a:r>
              <a:rPr lang="ru-RU" dirty="0" smtClean="0"/>
              <a:t>ПАО, АО</a:t>
            </a: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75373" y="1234418"/>
            <a:ext cx="110583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</a:t>
            </a:r>
            <a:r>
              <a:rPr lang="ru-RU" dirty="0" smtClean="0"/>
              <a:t>уществует большое кол-во </a:t>
            </a:r>
            <a:r>
              <a:rPr lang="ru-RU" dirty="0"/>
              <a:t>организаций, </a:t>
            </a:r>
            <a:r>
              <a:rPr lang="ru-RU" dirty="0" smtClean="0"/>
              <a:t>по </a:t>
            </a:r>
            <a:r>
              <a:rPr lang="ru-RU" dirty="0"/>
              <a:t>которым недоступны </a:t>
            </a:r>
            <a:r>
              <a:rPr lang="ru-RU" dirty="0" smtClean="0"/>
              <a:t>данные </a:t>
            </a:r>
            <a:r>
              <a:rPr lang="ru-RU" dirty="0"/>
              <a:t>по </a:t>
            </a:r>
            <a:r>
              <a:rPr lang="ru-RU" dirty="0" smtClean="0"/>
              <a:t>выручке</a:t>
            </a:r>
          </a:p>
          <a:p>
            <a:r>
              <a:rPr lang="ru-RU" dirty="0"/>
              <a:t> </a:t>
            </a:r>
            <a:r>
              <a:rPr lang="ru-RU" dirty="0" smtClean="0"/>
              <a:t>    (организации </a:t>
            </a:r>
            <a:r>
              <a:rPr lang="ru-RU" dirty="0"/>
              <a:t>их </a:t>
            </a:r>
            <a:r>
              <a:rPr lang="ru-RU" dirty="0" smtClean="0"/>
              <a:t>не публикуют). </a:t>
            </a:r>
          </a:p>
          <a:p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Среди таких организаций есть такие, которые обладают потенциалом </a:t>
            </a:r>
          </a:p>
          <a:p>
            <a:r>
              <a:rPr lang="ru-RU" dirty="0" smtClean="0"/>
              <a:t>      принести </a:t>
            </a:r>
            <a:r>
              <a:rPr lang="ru-RU" dirty="0" err="1" smtClean="0"/>
              <a:t>билайну</a:t>
            </a:r>
            <a:r>
              <a:rPr lang="ru-RU" dirty="0" smtClean="0"/>
              <a:t> большую выручку.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З</a:t>
            </a:r>
            <a:r>
              <a:rPr lang="ru-RU" dirty="0" smtClean="0"/>
              <a:t>адача</a:t>
            </a:r>
            <a:r>
              <a:rPr lang="en-US" dirty="0" smtClean="0"/>
              <a:t>: </a:t>
            </a:r>
            <a:r>
              <a:rPr lang="ru-RU" dirty="0" smtClean="0"/>
              <a:t>найти таких клиентов.</a:t>
            </a:r>
            <a:endParaRPr lang="en-US" dirty="0"/>
          </a:p>
          <a:p>
            <a:endParaRPr 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1</a:t>
            </a:fld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297597"/>
              </p:ext>
            </p:extLst>
          </p:nvPr>
        </p:nvGraphicFramePr>
        <p:xfrm>
          <a:off x="3067516" y="4661590"/>
          <a:ext cx="4184211" cy="910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72735">
                  <a:extLst>
                    <a:ext uri="{9D8B030D-6E8A-4147-A177-3AD203B41FA5}">
                      <a16:colId xmlns:a16="http://schemas.microsoft.com/office/drawing/2014/main" val="2334572724"/>
                    </a:ext>
                  </a:extLst>
                </a:gridCol>
                <a:gridCol w="2111476">
                  <a:extLst>
                    <a:ext uri="{9D8B030D-6E8A-4147-A177-3AD203B41FA5}">
                      <a16:colId xmlns:a16="http://schemas.microsoft.com/office/drawing/2014/main" val="3754368721"/>
                    </a:ext>
                  </a:extLst>
                </a:gridCol>
              </a:tblGrid>
              <a:tr h="510052">
                <a:tc>
                  <a:txBody>
                    <a:bodyPr/>
                    <a:lstStyle/>
                    <a:p>
                      <a:pPr lvl="0" algn="l" fontAlgn="b"/>
                      <a:r>
                        <a:rPr lang="ru-RU" sz="1400" b="1" u="none" strike="noStrike" dirty="0" smtClean="0">
                          <a:effectLst/>
                        </a:rPr>
                        <a:t>Кол-во организаций: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u="none" strike="noStrike" dirty="0" smtClean="0">
                          <a:effectLst/>
                        </a:rPr>
                        <a:t>Кол-во организаций </a:t>
                      </a:r>
                      <a:br>
                        <a:rPr lang="ru-RU" sz="1400" b="1" u="none" strike="noStrike" dirty="0" smtClean="0">
                          <a:effectLst/>
                        </a:rPr>
                      </a:br>
                      <a:r>
                        <a:rPr lang="ru-RU" sz="1400" b="1" u="none" strike="noStrike" dirty="0" smtClean="0">
                          <a:effectLst/>
                        </a:rPr>
                        <a:t>с незаполненной выручкой: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1716289"/>
                  </a:ext>
                </a:extLst>
              </a:tr>
              <a:tr h="26059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effectLst/>
                        </a:rPr>
                        <a:t>                          </a:t>
                      </a:r>
                      <a:r>
                        <a:rPr lang="ru-RU" sz="1400" u="none" strike="noStrike" dirty="0" smtClean="0">
                          <a:effectLst/>
                        </a:rPr>
                        <a:t> </a:t>
                      </a:r>
                      <a:r>
                        <a:rPr lang="ru-RU" sz="1400" dirty="0" smtClean="0"/>
                        <a:t>2</a:t>
                      </a:r>
                      <a:r>
                        <a:rPr lang="en-US" sz="1400" dirty="0" smtClean="0"/>
                        <a:t> </a:t>
                      </a:r>
                      <a:r>
                        <a:rPr lang="ru-RU" sz="1400" dirty="0" smtClean="0"/>
                        <a:t>447</a:t>
                      </a:r>
                      <a:r>
                        <a:rPr lang="en-US" sz="1400" dirty="0" smtClean="0"/>
                        <a:t> </a:t>
                      </a:r>
                      <a:r>
                        <a:rPr lang="ru-RU" sz="1400" dirty="0" smtClean="0"/>
                        <a:t>302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effectLst/>
                        </a:rPr>
                        <a:t>       </a:t>
                      </a:r>
                      <a:r>
                        <a:rPr lang="ru-RU" sz="1400" dirty="0" smtClean="0"/>
                        <a:t>378</a:t>
                      </a:r>
                      <a:r>
                        <a:rPr lang="en-US" sz="1400" dirty="0" smtClean="0"/>
                        <a:t> </a:t>
                      </a:r>
                      <a:r>
                        <a:rPr lang="ru-RU" sz="1400" dirty="0" smtClean="0"/>
                        <a:t>224</a:t>
                      </a:r>
                      <a:r>
                        <a:rPr lang="ru-RU" sz="1400" u="none" strike="noStrike" dirty="0" smtClean="0">
                          <a:effectLst/>
                        </a:rPr>
                        <a:t>                    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004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64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0896"/>
            <a:ext cx="10209028" cy="772559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потенциальных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LA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2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33991" y="1857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26409" y="1068198"/>
            <a:ext cx="99618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Были отобраны данные с заполненной выручкой и кол-ом сотрудников за </a:t>
            </a:r>
            <a:r>
              <a:rPr lang="ru-RU" sz="16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2024 год 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ru-RU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918 624</a:t>
            </a:r>
            <a:r>
              <a:rPr lang="en-US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</a:t>
            </a:r>
            <a:r>
              <a:rPr lang="ru-RU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наблюдений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  <a:p>
            <a:r>
              <a:rPr lang="ru-RU" sz="1600" b="1" dirty="0" err="1"/>
              <a:t>Таргет</a:t>
            </a:r>
            <a:r>
              <a:rPr lang="ru-RU" sz="1600" b="1" dirty="0"/>
              <a:t> </a:t>
            </a:r>
            <a:r>
              <a:rPr lang="ru-RU" sz="1600" b="1" dirty="0" smtClean="0"/>
              <a:t>модели-флаг</a:t>
            </a:r>
            <a:r>
              <a:rPr lang="en-US" sz="1600" dirty="0" smtClean="0"/>
              <a:t>: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REVENUE &gt;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1,5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млрд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или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COUNT_EMPLOYEE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&gt;= 100 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человек (</a:t>
            </a:r>
            <a:r>
              <a:rPr lang="ru-RU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1</a:t>
            </a:r>
            <a:r>
              <a:rPr lang="en-US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.7%</a:t>
            </a:r>
            <a:r>
              <a:rPr lang="en-US" sz="16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  <a:endParaRPr lang="ru-RU" sz="16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16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ru-RU" sz="16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Тип </a:t>
            </a:r>
            <a:r>
              <a:rPr lang="ru-RU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модели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  <a:r>
              <a:rPr lang="ru-RU" sz="1600" dirty="0" smtClean="0"/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LGBMClassifier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     </a:t>
            </a:r>
            <a:r>
              <a:rPr lang="en-US" sz="1600" dirty="0" smtClean="0"/>
              <a:t> </a:t>
            </a:r>
            <a:endParaRPr lang="ru-RU" sz="1600" dirty="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796084"/>
              </p:ext>
            </p:extLst>
          </p:nvPr>
        </p:nvGraphicFramePr>
        <p:xfrm>
          <a:off x="1931394" y="5828104"/>
          <a:ext cx="1502922" cy="445104"/>
        </p:xfrm>
        <a:graphic>
          <a:graphicData uri="http://schemas.openxmlformats.org/drawingml/2006/table">
            <a:tbl>
              <a:tblPr/>
              <a:tblGrid>
                <a:gridCol w="773243">
                  <a:extLst>
                    <a:ext uri="{9D8B030D-6E8A-4147-A177-3AD203B41FA5}">
                      <a16:colId xmlns:a16="http://schemas.microsoft.com/office/drawing/2014/main" val="1296548537"/>
                    </a:ext>
                  </a:extLst>
                </a:gridCol>
                <a:gridCol w="729679">
                  <a:extLst>
                    <a:ext uri="{9D8B030D-6E8A-4147-A177-3AD203B41FA5}">
                      <a16:colId xmlns:a16="http://schemas.microsoft.com/office/drawing/2014/main" val="3174914752"/>
                    </a:ext>
                  </a:extLst>
                </a:gridCol>
              </a:tblGrid>
              <a:tr h="2225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AUC_test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054391"/>
                  </a:ext>
                </a:extLst>
              </a:tr>
              <a:tr h="2225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Gini_test: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0,9133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349494"/>
                  </a:ext>
                </a:extLst>
              </a:tr>
            </a:tbl>
          </a:graphicData>
        </a:graphic>
      </p:graphicFrame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2" y="2226989"/>
            <a:ext cx="4416042" cy="3534408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4958539" y="2365211"/>
            <a:ext cx="6545889" cy="409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Original set (with OPF filter) 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4958539" y="2887793"/>
            <a:ext cx="4568233" cy="375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Training set (90%)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9590567" y="2887793"/>
            <a:ext cx="1913861" cy="381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Test set (10%)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4958539" y="3491795"/>
            <a:ext cx="2517986" cy="37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Training  (76.5%)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7589681" y="3490571"/>
            <a:ext cx="1928488" cy="37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Validation (13.5%) 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9590567" y="3484535"/>
            <a:ext cx="1913861" cy="381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</a:rPr>
              <a:t>Test set (10%)</a:t>
            </a: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58539" y="4209844"/>
            <a:ext cx="44255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При тестировании модели использовалось </a:t>
            </a:r>
          </a:p>
          <a:p>
            <a:r>
              <a:rPr lang="ru-RU" sz="1600" dirty="0" smtClean="0"/>
              <a:t>два вида отложенной выборки (</a:t>
            </a:r>
            <a:r>
              <a:rPr lang="en-US" sz="1600" dirty="0" smtClean="0"/>
              <a:t>Validation </a:t>
            </a:r>
            <a:r>
              <a:rPr lang="ru-RU" sz="1600" dirty="0" smtClean="0"/>
              <a:t>и </a:t>
            </a:r>
            <a:r>
              <a:rPr lang="en-US" sz="1600" dirty="0" smtClean="0"/>
              <a:t>Test)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3664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4215"/>
            <a:ext cx="10515600" cy="804456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потенциальных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LA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3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08591" y="1118336"/>
            <a:ext cx="7356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Из 68 переменных витрины было отобрано </a:t>
            </a:r>
            <a:r>
              <a:rPr lang="ru-RU" b="1" dirty="0" smtClean="0"/>
              <a:t>34</a:t>
            </a:r>
            <a:r>
              <a:rPr lang="en-US" b="1" dirty="0"/>
              <a:t> </a:t>
            </a:r>
            <a:r>
              <a:rPr lang="ru-RU" b="1" dirty="0" smtClean="0"/>
              <a:t>наиболее значимых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endParaRPr lang="ru-RU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На графике представлено топ</a:t>
            </a:r>
            <a:r>
              <a:rPr lang="en-US" dirty="0" smtClean="0"/>
              <a:t> </a:t>
            </a:r>
            <a:r>
              <a:rPr lang="ru-RU" dirty="0" smtClean="0"/>
              <a:t>20 из них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93587" y="1922792"/>
            <a:ext cx="305970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/>
              <a:t>OKVED_CHAPTER_CODE </a:t>
            </a:r>
            <a:r>
              <a:rPr lang="ru-RU" sz="1300" dirty="0" smtClean="0"/>
              <a:t>равен</a:t>
            </a:r>
            <a:r>
              <a:rPr lang="en-US" sz="1300" dirty="0" smtClean="0"/>
              <a:t> H</a:t>
            </a:r>
            <a:endParaRPr lang="ru-RU" sz="1300" dirty="0" smtClean="0"/>
          </a:p>
          <a:p>
            <a:r>
              <a:rPr lang="en-US" sz="1300" dirty="0" smtClean="0"/>
              <a:t>OKVED_CHAPTER_CODE </a:t>
            </a:r>
            <a:r>
              <a:rPr lang="ru-RU" sz="1300" dirty="0" smtClean="0"/>
              <a:t>равен</a:t>
            </a:r>
            <a:r>
              <a:rPr lang="en-US" sz="1300" dirty="0" smtClean="0"/>
              <a:t> K</a:t>
            </a:r>
            <a:endParaRPr lang="ru-RU" sz="1300" dirty="0"/>
          </a:p>
          <a:p>
            <a:r>
              <a:rPr lang="en-US" sz="1300" dirty="0" smtClean="0"/>
              <a:t>OKVED_CHAPTER_CODE </a:t>
            </a:r>
            <a:r>
              <a:rPr lang="ru-RU" sz="1300" dirty="0" smtClean="0"/>
              <a:t>равен </a:t>
            </a:r>
            <a:r>
              <a:rPr lang="en-US" sz="1300" dirty="0"/>
              <a:t>C</a:t>
            </a:r>
            <a:endParaRPr lang="ru-RU" sz="1300" dirty="0" smtClean="0"/>
          </a:p>
          <a:p>
            <a:r>
              <a:rPr lang="ru-RU" sz="1300" dirty="0" smtClean="0"/>
              <a:t>Флаг статуса </a:t>
            </a:r>
            <a:r>
              <a:rPr lang="ru-RU" sz="1300" dirty="0" err="1" smtClean="0"/>
              <a:t>егрюл</a:t>
            </a:r>
            <a:endParaRPr lang="ru-RU" sz="1300" dirty="0"/>
          </a:p>
          <a:p>
            <a:r>
              <a:rPr lang="en-US" sz="1300" dirty="0" smtClean="0"/>
              <a:t>OKVED_CHAPTER_CODE </a:t>
            </a:r>
            <a:r>
              <a:rPr lang="ru-RU" sz="1300" dirty="0" smtClean="0"/>
              <a:t>равен </a:t>
            </a:r>
            <a:r>
              <a:rPr lang="en-US" sz="1300" dirty="0" smtClean="0"/>
              <a:t>S</a:t>
            </a:r>
            <a:endParaRPr lang="ru-RU" sz="1300" dirty="0" smtClean="0"/>
          </a:p>
          <a:p>
            <a:r>
              <a:rPr lang="ru-RU" sz="1300" dirty="0" smtClean="0"/>
              <a:t>Флаг формы иностранной </a:t>
            </a:r>
            <a:r>
              <a:rPr lang="ru-RU" sz="1300" dirty="0" err="1"/>
              <a:t>с</a:t>
            </a:r>
            <a:r>
              <a:rPr lang="ru-RU" sz="1300" dirty="0" err="1" smtClean="0"/>
              <a:t>обств-ти</a:t>
            </a:r>
            <a:endParaRPr lang="ru-RU" sz="1300" dirty="0"/>
          </a:p>
          <a:p>
            <a:r>
              <a:rPr lang="en-US" sz="1300" dirty="0" smtClean="0"/>
              <a:t>OKVED_CLASS_CODE </a:t>
            </a:r>
            <a:r>
              <a:rPr lang="ru-RU" sz="1300" dirty="0" smtClean="0"/>
              <a:t>равен</a:t>
            </a:r>
            <a:r>
              <a:rPr lang="en-US" sz="1300" dirty="0" smtClean="0"/>
              <a:t> </a:t>
            </a:r>
            <a:r>
              <a:rPr lang="ru-RU" sz="1300" dirty="0" smtClean="0"/>
              <a:t>41</a:t>
            </a:r>
          </a:p>
          <a:p>
            <a:r>
              <a:rPr lang="ru-RU" sz="1300" dirty="0" smtClean="0"/>
              <a:t>Флаг частной формы собственности</a:t>
            </a:r>
            <a:endParaRPr lang="ru-RU" sz="1300" dirty="0"/>
          </a:p>
          <a:p>
            <a:r>
              <a:rPr lang="en-US" sz="1300" dirty="0" smtClean="0"/>
              <a:t>OKVED_CHAPTER_CODE </a:t>
            </a:r>
            <a:r>
              <a:rPr lang="ru-RU" sz="1300" dirty="0" smtClean="0"/>
              <a:t>равен </a:t>
            </a:r>
            <a:r>
              <a:rPr lang="en-US" sz="1300" dirty="0" smtClean="0"/>
              <a:t>M</a:t>
            </a:r>
            <a:endParaRPr lang="ru-RU" sz="1300" dirty="0" smtClean="0"/>
          </a:p>
          <a:p>
            <a:r>
              <a:rPr lang="ru-RU" sz="1300" dirty="0" smtClean="0"/>
              <a:t>Группа индустрии (оптовая)</a:t>
            </a:r>
            <a:endParaRPr lang="ru-RU" sz="1300" dirty="0"/>
          </a:p>
          <a:p>
            <a:r>
              <a:rPr lang="en-US" sz="1300" dirty="0" smtClean="0"/>
              <a:t>OKVED_CLASS_CODE </a:t>
            </a:r>
            <a:r>
              <a:rPr lang="ru-RU" sz="1300" dirty="0" smtClean="0"/>
              <a:t>равен</a:t>
            </a:r>
            <a:r>
              <a:rPr lang="en-US" sz="1300" dirty="0" smtClean="0"/>
              <a:t> 47</a:t>
            </a:r>
            <a:endParaRPr lang="ru-RU" sz="1300" dirty="0" smtClean="0"/>
          </a:p>
          <a:p>
            <a:r>
              <a:rPr lang="en-US" sz="1300" dirty="0" smtClean="0"/>
              <a:t>OKVED_CHAPTER_CODE </a:t>
            </a:r>
            <a:r>
              <a:rPr lang="ru-RU" sz="1300" dirty="0" smtClean="0"/>
              <a:t>равен </a:t>
            </a:r>
            <a:r>
              <a:rPr lang="en-US" sz="1300" dirty="0" smtClean="0"/>
              <a:t>G</a:t>
            </a:r>
            <a:endParaRPr lang="ru-RU" sz="1300" dirty="0"/>
          </a:p>
          <a:p>
            <a:r>
              <a:rPr lang="ru-RU" sz="1300" dirty="0" smtClean="0"/>
              <a:t>Тип региона (республика)</a:t>
            </a:r>
          </a:p>
          <a:p>
            <a:r>
              <a:rPr lang="en-US" sz="1300" dirty="0" smtClean="0"/>
              <a:t>MSP_TYPE </a:t>
            </a:r>
            <a:r>
              <a:rPr lang="ru-RU" sz="1300" dirty="0" smtClean="0"/>
              <a:t>со значением «</a:t>
            </a:r>
            <a:r>
              <a:rPr lang="en-US" sz="1300" dirty="0" smtClean="0"/>
              <a:t>middle</a:t>
            </a:r>
            <a:r>
              <a:rPr lang="ru-RU" sz="1300" dirty="0" smtClean="0"/>
              <a:t>»</a:t>
            </a:r>
            <a:endParaRPr lang="ru-RU" sz="1300" dirty="0"/>
          </a:p>
          <a:p>
            <a:r>
              <a:rPr lang="en-US" sz="1300" dirty="0" smtClean="0"/>
              <a:t>MSP_TYPE </a:t>
            </a:r>
            <a:r>
              <a:rPr lang="ru-RU" sz="1300" dirty="0" smtClean="0"/>
              <a:t>со значением «</a:t>
            </a:r>
            <a:r>
              <a:rPr lang="en-US" sz="1300" dirty="0" smtClean="0"/>
              <a:t>micro</a:t>
            </a:r>
            <a:r>
              <a:rPr lang="ru-RU" sz="1300" dirty="0" smtClean="0"/>
              <a:t>»</a:t>
            </a:r>
          </a:p>
          <a:p>
            <a:r>
              <a:rPr lang="ru-RU" sz="1300" dirty="0" smtClean="0"/>
              <a:t>Тип региона </a:t>
            </a:r>
            <a:r>
              <a:rPr lang="en-US" sz="1300" dirty="0" smtClean="0"/>
              <a:t>(</a:t>
            </a:r>
            <a:r>
              <a:rPr lang="ru-RU" sz="1300" dirty="0" smtClean="0"/>
              <a:t>область</a:t>
            </a:r>
            <a:r>
              <a:rPr lang="en-US" sz="1300" dirty="0" smtClean="0"/>
              <a:t>)</a:t>
            </a:r>
            <a:endParaRPr lang="ru-RU" sz="1300" dirty="0"/>
          </a:p>
          <a:p>
            <a:r>
              <a:rPr lang="en-US" sz="1300" dirty="0" smtClean="0"/>
              <a:t>OKVED_CLASS_CODE </a:t>
            </a:r>
            <a:r>
              <a:rPr lang="ru-RU" sz="1300" dirty="0" smtClean="0"/>
              <a:t>равен</a:t>
            </a:r>
            <a:r>
              <a:rPr lang="en-US" sz="1300" dirty="0" smtClean="0"/>
              <a:t> 68</a:t>
            </a:r>
            <a:endParaRPr lang="ru-RU" sz="1300" dirty="0" smtClean="0"/>
          </a:p>
          <a:p>
            <a:r>
              <a:rPr lang="ru-RU" sz="1300" dirty="0" smtClean="0"/>
              <a:t>Кол-во месяцев от даты </a:t>
            </a:r>
            <a:r>
              <a:rPr lang="en-US" sz="1300" dirty="0" smtClean="0"/>
              <a:t>MSP_IN_DATE</a:t>
            </a:r>
            <a:endParaRPr lang="ru-RU" sz="1300" dirty="0"/>
          </a:p>
          <a:p>
            <a:r>
              <a:rPr lang="ru-RU" sz="1300" dirty="0" smtClean="0"/>
              <a:t>Уставной капитал</a:t>
            </a:r>
          </a:p>
          <a:p>
            <a:r>
              <a:rPr lang="ru-RU" sz="1300" dirty="0" smtClean="0"/>
              <a:t>Возраст компании</a:t>
            </a:r>
            <a:endParaRPr lang="ru-RU" sz="130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763" y="1922792"/>
            <a:ext cx="6838950" cy="4733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72105" y="1621530"/>
            <a:ext cx="47957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solidFill>
                  <a:schemeClr val="accent2"/>
                </a:solidFill>
              </a:rPr>
              <a:t>      </a:t>
            </a:r>
            <a:r>
              <a:rPr lang="ru-RU" sz="1600" b="1" dirty="0" smtClean="0"/>
              <a:t>Наиболее значимые переменные</a:t>
            </a:r>
            <a:r>
              <a:rPr lang="en-US" sz="1600" b="1" dirty="0" smtClean="0"/>
              <a:t>:</a:t>
            </a:r>
            <a:endParaRPr lang="ru-RU" sz="1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/>
              <a:t>возраст компании и величина уставного капитала</a:t>
            </a:r>
            <a:r>
              <a:rPr lang="en-US" sz="1400" dirty="0" smtClean="0"/>
              <a:t>;</a:t>
            </a:r>
            <a:endParaRPr lang="ru-RU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т</a:t>
            </a:r>
            <a:r>
              <a:rPr lang="ru-RU" sz="1400" dirty="0" smtClean="0"/>
              <a:t>акже хорошо себя показали переменные-флаги </a:t>
            </a:r>
            <a:r>
              <a:rPr lang="en-US" sz="1400" dirty="0" smtClean="0"/>
              <a:t>OKVED,</a:t>
            </a:r>
          </a:p>
          <a:p>
            <a:r>
              <a:rPr lang="en-US" sz="1400" dirty="0" smtClean="0"/>
              <a:t>        </a:t>
            </a:r>
            <a:r>
              <a:rPr lang="ru-RU" sz="1400" dirty="0" smtClean="0"/>
              <a:t>которые векторизовались с помощью статистики </a:t>
            </a:r>
            <a:r>
              <a:rPr lang="en-US" sz="1400" b="1" dirty="0" smtClean="0"/>
              <a:t>TF-IDF</a:t>
            </a:r>
            <a:endParaRPr lang="ru-RU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7908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37325"/>
            <a:ext cx="10209028" cy="655601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потенциальных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LA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4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18100" y="872319"/>
            <a:ext cx="81176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Основные метрики принятие решения по модели</a:t>
            </a:r>
            <a:r>
              <a:rPr lang="en-US" sz="1600" dirty="0" smtClean="0"/>
              <a:t>: </a:t>
            </a:r>
            <a:r>
              <a:rPr lang="en-US" sz="1600" b="1" dirty="0" smtClean="0"/>
              <a:t>Precision</a:t>
            </a:r>
            <a:r>
              <a:rPr lang="en-US" sz="1600" dirty="0" smtClean="0"/>
              <a:t> – </a:t>
            </a:r>
            <a:r>
              <a:rPr lang="ru-RU" sz="1600" dirty="0" smtClean="0"/>
              <a:t>точность</a:t>
            </a:r>
            <a:r>
              <a:rPr lang="en-US" sz="1600" dirty="0" smtClean="0"/>
              <a:t>,</a:t>
            </a:r>
            <a:r>
              <a:rPr lang="ru-RU" sz="1600" dirty="0" smtClean="0"/>
              <a:t> </a:t>
            </a:r>
            <a:r>
              <a:rPr lang="en-US" sz="1600" b="1" dirty="0" smtClean="0"/>
              <a:t>Recall</a:t>
            </a:r>
            <a:r>
              <a:rPr lang="ru-RU" sz="1600" b="1" dirty="0" smtClean="0"/>
              <a:t> </a:t>
            </a:r>
            <a:r>
              <a:rPr lang="ru-RU" sz="1600" dirty="0" smtClean="0"/>
              <a:t>– полнота</a:t>
            </a:r>
            <a:endParaRPr lang="en-US" sz="1600" dirty="0" smtClean="0"/>
          </a:p>
          <a:p>
            <a:endParaRPr lang="en-US" sz="1600" dirty="0" smtClean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86" y="2017182"/>
            <a:ext cx="3733802" cy="335193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206" y="2037029"/>
            <a:ext cx="5152381" cy="36857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8100" y="1241505"/>
            <a:ext cx="364452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Зависимость точности и полноты от 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порога отсечения</a:t>
            </a:r>
            <a:r>
              <a:rPr lang="en-US" sz="1600" dirty="0" smtClean="0"/>
              <a:t> (threshold):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5428401" y="1344178"/>
            <a:ext cx="61237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Кол-во организаций, предлагаемых моделью для рассмотрения </a:t>
            </a:r>
          </a:p>
          <a:p>
            <a:r>
              <a:rPr lang="en-US" sz="1600" dirty="0" smtClean="0"/>
              <a:t>      </a:t>
            </a:r>
            <a:r>
              <a:rPr lang="ru-RU" sz="1600" dirty="0" smtClean="0"/>
              <a:t>в зависимости от порога отсечения</a:t>
            </a:r>
            <a:r>
              <a:rPr lang="en-US" sz="1600" dirty="0" smtClean="0"/>
              <a:t>:</a:t>
            </a:r>
            <a:r>
              <a:rPr lang="ru-RU" sz="1600" dirty="0" smtClean="0"/>
              <a:t> 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862" y="5476985"/>
            <a:ext cx="314325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6301" y="301544"/>
            <a:ext cx="10209028" cy="655601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потенциальных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LA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5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82682" y="930782"/>
            <a:ext cx="84089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 smtClean="0"/>
              <a:t>Проскорили</a:t>
            </a:r>
            <a:r>
              <a:rPr lang="ru-RU" sz="1600" dirty="0" smtClean="0"/>
              <a:t> организации из витрины </a:t>
            </a:r>
            <a:r>
              <a:rPr lang="en-US" sz="1600" dirty="0" smtClean="0"/>
              <a:t>b2b_profile.org_kontur_focus_galaxy</a:t>
            </a:r>
          </a:p>
          <a:p>
            <a:r>
              <a:rPr lang="ru-RU" sz="1600" dirty="0"/>
              <a:t> </a:t>
            </a:r>
            <a:r>
              <a:rPr lang="ru-RU" sz="1600" dirty="0" smtClean="0"/>
              <a:t>    с незаполненной выручкой и кол-ом сотрудников</a:t>
            </a:r>
            <a:r>
              <a:rPr lang="en-US" sz="1600" dirty="0" smtClean="0"/>
              <a:t> (</a:t>
            </a:r>
            <a:r>
              <a:rPr lang="ru-RU" sz="1600" dirty="0" smtClean="0"/>
              <a:t>с ОПФ</a:t>
            </a:r>
            <a:r>
              <a:rPr lang="en-US" sz="1600" dirty="0" smtClean="0"/>
              <a:t> </a:t>
            </a:r>
            <a:r>
              <a:rPr lang="ru-RU" sz="1600" dirty="0" smtClean="0"/>
              <a:t>фильтром</a:t>
            </a:r>
            <a:r>
              <a:rPr lang="en-US" sz="1600" dirty="0" smtClean="0"/>
              <a:t>): </a:t>
            </a:r>
            <a:r>
              <a:rPr lang="en-US" sz="1600" b="1" dirty="0"/>
              <a:t>193 721 </a:t>
            </a:r>
            <a:r>
              <a:rPr lang="ru-RU" sz="1600" b="1" dirty="0" smtClean="0"/>
              <a:t>организаций</a:t>
            </a:r>
            <a:r>
              <a:rPr lang="en-US" sz="1600" dirty="0" smtClean="0"/>
              <a:t>;</a:t>
            </a:r>
          </a:p>
          <a:p>
            <a:r>
              <a:rPr lang="ru-RU" sz="1600" dirty="0" smtClean="0"/>
              <a:t> 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Отобрали </a:t>
            </a:r>
            <a:r>
              <a:rPr lang="en-US" sz="1600" b="1" dirty="0" smtClean="0"/>
              <a:t>top </a:t>
            </a:r>
            <a:r>
              <a:rPr lang="ru-RU" sz="1600" b="1" dirty="0" smtClean="0"/>
              <a:t>1</a:t>
            </a:r>
            <a:r>
              <a:rPr lang="en-US" sz="1600" b="1" dirty="0" smtClean="0"/>
              <a:t>5</a:t>
            </a:r>
            <a:r>
              <a:rPr lang="ru-RU" sz="1600" dirty="0" smtClean="0"/>
              <a:t> компаний</a:t>
            </a:r>
            <a:r>
              <a:rPr lang="en-US" sz="1600" dirty="0" smtClean="0"/>
              <a:t> </a:t>
            </a:r>
            <a:r>
              <a:rPr lang="ru-RU" sz="1600" dirty="0" smtClean="0"/>
              <a:t>по </a:t>
            </a:r>
            <a:r>
              <a:rPr lang="ru-RU" sz="1600" dirty="0" err="1" smtClean="0"/>
              <a:t>скору</a:t>
            </a:r>
            <a:r>
              <a:rPr lang="en-US" sz="1600" dirty="0" smtClean="0"/>
              <a:t>:</a:t>
            </a:r>
            <a:endParaRPr lang="ru-RU" sz="16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6" y="2115879"/>
            <a:ext cx="4770126" cy="358386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591" y="1765300"/>
            <a:ext cx="50482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1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6301" y="301544"/>
            <a:ext cx="10209028" cy="655601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потенциальных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LA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6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82682" y="985258"/>
            <a:ext cx="850194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 smtClean="0"/>
              <a:t>Проскорили</a:t>
            </a:r>
            <a:r>
              <a:rPr lang="ru-RU" sz="1600" dirty="0" smtClean="0"/>
              <a:t> организации из витрины </a:t>
            </a:r>
            <a:r>
              <a:rPr lang="en-US" sz="1600" dirty="0" smtClean="0"/>
              <a:t>b2b_profile.org_kontur_focus_galaxy</a:t>
            </a:r>
          </a:p>
          <a:p>
            <a:r>
              <a:rPr lang="ru-RU" sz="1600" dirty="0"/>
              <a:t> </a:t>
            </a:r>
            <a:r>
              <a:rPr lang="ru-RU" sz="1600" dirty="0" smtClean="0"/>
              <a:t>    с незаполненной выручкой и кол-ом сотрудников</a:t>
            </a:r>
            <a:r>
              <a:rPr lang="en-US" sz="1600" dirty="0" smtClean="0"/>
              <a:t> (</a:t>
            </a:r>
            <a:r>
              <a:rPr lang="ru-RU" sz="1600" dirty="0" smtClean="0"/>
              <a:t>с ОПФ</a:t>
            </a:r>
            <a:r>
              <a:rPr lang="en-US" sz="1600" dirty="0" smtClean="0"/>
              <a:t> </a:t>
            </a:r>
            <a:r>
              <a:rPr lang="ru-RU" sz="1600" dirty="0" smtClean="0"/>
              <a:t>фильтром</a:t>
            </a:r>
            <a:r>
              <a:rPr lang="en-US" sz="1600" dirty="0" smtClean="0"/>
              <a:t>): </a:t>
            </a:r>
            <a:r>
              <a:rPr lang="en-US" sz="1600" b="1" dirty="0" smtClean="0"/>
              <a:t>193 721 </a:t>
            </a:r>
            <a:r>
              <a:rPr lang="ru-RU" sz="1600" b="1" dirty="0" smtClean="0"/>
              <a:t>организаций</a:t>
            </a:r>
            <a:r>
              <a:rPr lang="en-US" sz="1600" b="1" dirty="0" smtClean="0"/>
              <a:t> </a:t>
            </a:r>
            <a:r>
              <a:rPr lang="en-US" sz="1600" dirty="0" smtClean="0"/>
              <a:t>;</a:t>
            </a:r>
            <a:r>
              <a:rPr lang="ru-RU" sz="1600" dirty="0" smtClean="0"/>
              <a:t> </a:t>
            </a:r>
            <a:endParaRPr lang="en-US" sz="1600" dirty="0" smtClean="0"/>
          </a:p>
          <a:p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Кол-во организаций, выданных моделью, в зависимости от порога отсечения</a:t>
            </a:r>
            <a:r>
              <a:rPr lang="en-US" sz="1600" dirty="0" smtClean="0"/>
              <a:t>:</a:t>
            </a:r>
            <a:endParaRPr lang="ru-RU" sz="16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590" y="2406361"/>
            <a:ext cx="4890867" cy="3498642"/>
          </a:xfrm>
          <a:prstGeom prst="rect">
            <a:avLst/>
          </a:prstGeom>
        </p:spPr>
      </p:pic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275693"/>
              </p:ext>
            </p:extLst>
          </p:nvPr>
        </p:nvGraphicFramePr>
        <p:xfrm>
          <a:off x="1116419" y="2664886"/>
          <a:ext cx="4019106" cy="2832735"/>
        </p:xfrm>
        <a:graphic>
          <a:graphicData uri="http://schemas.openxmlformats.org/drawingml/2006/table">
            <a:tbl>
              <a:tblPr/>
              <a:tblGrid>
                <a:gridCol w="1190846">
                  <a:extLst>
                    <a:ext uri="{9D8B030D-6E8A-4147-A177-3AD203B41FA5}">
                      <a16:colId xmlns:a16="http://schemas.microsoft.com/office/drawing/2014/main" val="902768311"/>
                    </a:ext>
                  </a:extLst>
                </a:gridCol>
                <a:gridCol w="1909381">
                  <a:extLst>
                    <a:ext uri="{9D8B030D-6E8A-4147-A177-3AD203B41FA5}">
                      <a16:colId xmlns:a16="http://schemas.microsoft.com/office/drawing/2014/main" val="537990078"/>
                    </a:ext>
                  </a:extLst>
                </a:gridCol>
                <a:gridCol w="918879">
                  <a:extLst>
                    <a:ext uri="{9D8B030D-6E8A-4147-A177-3AD203B41FA5}">
                      <a16:colId xmlns:a16="http://schemas.microsoft.com/office/drawing/2014/main" val="58432582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Порог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организаций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Доля, %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576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193721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604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65406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33.76%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2061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64130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2705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63282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32.67%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302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56208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5387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31663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2479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7981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450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00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679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586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1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9079</TotalTime>
  <Words>456</Words>
  <Application>Microsoft Office PowerPoint</Application>
  <PresentationFormat>Широкоэкранный</PresentationFormat>
  <Paragraphs>118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Модель потенциальных LA</vt:lpstr>
      <vt:lpstr>Модель потенциальных LA</vt:lpstr>
      <vt:lpstr>Модель потенциальных LA</vt:lpstr>
      <vt:lpstr>Модель потенциальных LA</vt:lpstr>
      <vt:lpstr>Модель потенциальных LA</vt:lpstr>
      <vt:lpstr>Модель потенциальных LA</vt:lpstr>
    </vt:vector>
  </TitlesOfParts>
  <Company>Vimpelcom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Модель определения потенциально</dc:title>
  <dc:creator>Загайная Екатерина Михайловна</dc:creator>
  <cp:lastModifiedBy>Загайная Екатерина Михайловна</cp:lastModifiedBy>
  <cp:revision>76</cp:revision>
  <dcterms:created xsi:type="dcterms:W3CDTF">2025-05-12T11:29:43Z</dcterms:created>
  <dcterms:modified xsi:type="dcterms:W3CDTF">2025-05-21T15:06:27Z</dcterms:modified>
</cp:coreProperties>
</file>